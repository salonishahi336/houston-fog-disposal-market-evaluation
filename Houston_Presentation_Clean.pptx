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71" r:id="rId3"/>
    <p:sldId id="257" r:id="rId4"/>
    <p:sldId id="258" r:id="rId5"/>
    <p:sldId id="259" r:id="rId6"/>
    <p:sldId id="260" r:id="rId7"/>
    <p:sldId id="261" r:id="rId8"/>
    <p:sldId id="268" r:id="rId9"/>
    <p:sldId id="262" r:id="rId10"/>
    <p:sldId id="263" r:id="rId11"/>
    <p:sldId id="269" r:id="rId12"/>
    <p:sldId id="264" r:id="rId13"/>
    <p:sldId id="265" r:id="rId14"/>
    <p:sldId id="266" r:id="rId15"/>
    <p:sldId id="267" r:id="rId16"/>
    <p:sldId id="270"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049" autoAdjust="0"/>
  </p:normalViewPr>
  <p:slideViewPr>
    <p:cSldViewPr snapToGrid="0" snapToObjects="1">
      <p:cViewPr varScale="1">
        <p:scale>
          <a:sx n="87" d="100"/>
          <a:sy n="87" d="100"/>
        </p:scale>
        <p:origin x="680" y="48"/>
      </p:cViewPr>
      <p:guideLst/>
    </p:cSldViewPr>
  </p:slid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4714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looked at where the restaurant demand is, who the current competitors are, where the gaps are, and what the regulatory picture looks like. I think I found some interesting things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Houston has over 14,500 food service establishments across 9 counties. Every one of them has a grease trap generating waste.</a:t>
            </a:r>
          </a:p>
          <a:p>
            <a:r>
              <a:rPr lang="en-US" dirty="0"/>
              <a:t xml:space="preserve">Now here's the problem. The TCEQ registry shows 10 5GG grease trap processing entries across the entire MSA. But when you look closer — 9 are in Harris County and 1 is in Austin County still pending approval. </a:t>
            </a:r>
          </a:p>
          <a:p>
            <a:r>
              <a:rPr lang="en-US" dirty="0"/>
              <a:t>So the real picture — 10 registered entries in TCEQ but only 6 are actually built and running. Three got permits years ago but were never constructed. And one in Austin County is still pending. So it's 6 operating facilities for over 14,000 restaurants. That's roughly 2,400 restaurants per operating facility. And 8 out of 9 counties have absolutely nothing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county breakdown. Harris is the giant — 10,038 restaurants, about 69% of the entire MSA. But look at the other columns. Fort Bend has 1,522. Montgomery nearly 1,200. Galveston 780. Brazoria 689. These aren't small markets.</a:t>
            </a:r>
          </a:p>
          <a:p>
            <a:r>
              <a:rPr lang="en-US" dirty="0"/>
              <a:t>Now look at the facilities column. Harris has 9 registered, but like I mentioned only 5 are actually running. Every other county — zero. Fort Bend, zero. Montgomery, zero. Galveston, zero. It just keeps going.</a:t>
            </a:r>
          </a:p>
          <a:p>
            <a:r>
              <a:rPr lang="en-US" dirty="0"/>
              <a:t>And here's the thing — this market is growing fast. Houston led the entire country in population growth last year. Fort Bend alone added 24,000 people and is on track to hit one million residents by 2030. Montgomery added 30,000. More people means more restaurants means more grease trap waste. The gap is getting wider, not smaller.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interactive heat map I built using 4,502 geocoded restaurant locations. You can open the HTML file in your browser and zoom in, click on facilities, explore it yourself.</a:t>
            </a:r>
          </a:p>
          <a:p>
            <a:r>
              <a:rPr lang="en-US" dirty="0"/>
              <a:t>The yellow and red areas are where restaurants are most concentrated. You can see the core is central Houston — downtown, Galleria, Chinatown. But look at the secondary clusters. The Woodlands up here. Sugar Land over here. The Katy corridor. Humble. Even Pearland down south.</a:t>
            </a:r>
          </a:p>
          <a:p>
            <a:r>
              <a:rPr lang="en-US" dirty="0"/>
              <a:t>Now the pins — the red ones are the 5GG processing facilities. They're all clustered together in central Harris. See the problem? The heat spreads across the entire MSA but the pins only cover a small area. Sugar Land is glowing but the nearest pin is 10 miles away. The Woodlands has a clear hot spot but the nearest facility is 22 miles south.</a:t>
            </a:r>
          </a:p>
          <a:p>
            <a:r>
              <a:rPr lang="en-US" dirty="0"/>
              <a:t>That disconnect between where the demand is and where the disposal is — that's what this entire presentation is about.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Now let's look at who's in this market. </a:t>
            </a:r>
            <a:r>
              <a:rPr lang="en-US" dirty="0" err="1"/>
              <a:t>Southwaste</a:t>
            </a:r>
            <a:r>
              <a:rPr lang="en-US" dirty="0"/>
              <a:t xml:space="preserve"> Hurst is the dominant player — established in 1948, nearest option for nearly 1,400 restaurant zones. Downstream is second at 852 — and interestingly, </a:t>
            </a:r>
            <a:r>
              <a:rPr lang="en-US" dirty="0" err="1"/>
              <a:t>Southwaste</a:t>
            </a:r>
            <a:r>
              <a:rPr lang="en-US" dirty="0"/>
              <a:t xml:space="preserve"> lists that address as one of their own Houston locations on their website. If that's the case, one company may control over 2,200 restaurant zones.</a:t>
            </a:r>
          </a:p>
          <a:p>
            <a:r>
              <a:rPr lang="en-US" dirty="0" err="1"/>
              <a:t>Vexara</a:t>
            </a:r>
            <a:r>
              <a:rPr lang="en-US" dirty="0"/>
              <a:t xml:space="preserve"> is operating but has a pending application to expand to 50,000 gallons per day — which tells you even existing operators see demand growing. TAP Inc covers north Houston. And </a:t>
            </a:r>
            <a:r>
              <a:rPr lang="en-US" dirty="0" err="1"/>
              <a:t>Genesyst</a:t>
            </a:r>
            <a:r>
              <a:rPr lang="en-US" dirty="0"/>
              <a:t xml:space="preserve"> has had a permit since 1989 but the facility was never built. Same with </a:t>
            </a:r>
            <a:r>
              <a:rPr lang="en-US" dirty="0" err="1"/>
              <a:t>Schalker</a:t>
            </a:r>
            <a:r>
              <a:rPr lang="en-US" dirty="0"/>
              <a:t xml:space="preserve"> Street and Ley Road — permitted, never constructed. So three facilities that were supposed to add capacity never materialized.</a:t>
            </a:r>
          </a:p>
          <a:p>
            <a:r>
              <a:rPr lang="en-US" dirty="0"/>
              <a:t xml:space="preserve">On the financial side — </a:t>
            </a:r>
            <a:r>
              <a:rPr lang="en-US" dirty="0" err="1"/>
              <a:t>Southwaste</a:t>
            </a:r>
            <a:r>
              <a:rPr lang="en-US" dirty="0"/>
              <a:t xml:space="preserve"> publicly reports processing 275 million gallons in 2025 with a target of 302.5 million for 2026. That's 10% year-over-year growth. At industry tip fee rates of 5 to 15 cents per gallon, that's 13.75 to 41.25 million in annual revenue from one operator. The market is real and it's growing.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automated the gap analysis to get real numbers. Divided the MSA into 2-kilometer grid squares, found the 54 densest restaurant zones, and calculated the distance from each to the nearest operating 5GG facility.</a:t>
            </a:r>
          </a:p>
          <a:p>
            <a:r>
              <a:rPr lang="en-US" dirty="0"/>
              <a:t>Half of all zones — 27 out of 54 — are more than 10 miles from any disposal option. 13 zones are over 15 miles.</a:t>
            </a:r>
          </a:p>
          <a:p>
            <a:r>
              <a:rPr lang="en-US" dirty="0"/>
              <a:t xml:space="preserve">At the county level — Montgomery is the worst. Every zone is underserved, averaging 26 miles. Fort Bend haulers drive 10 to 17 miles into Harris. Galveston is nearly 40 miles from anything. And some of these distances are actually understated because the analysis includes facilities like </a:t>
            </a:r>
            <a:r>
              <a:rPr lang="en-US" dirty="0" err="1"/>
              <a:t>Genesyst</a:t>
            </a:r>
            <a:r>
              <a:rPr lang="en-US" dirty="0"/>
              <a:t xml:space="preserve"> that were never built.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16A6A-EBF6-A35E-34B9-3D08385350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F384FD-5234-8F01-E3D1-F68B60A0BE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BB5144-67DE-B24C-0BF3-7AE517996491}"/>
              </a:ext>
            </a:extLst>
          </p:cNvPr>
          <p:cNvSpPr>
            <a:spLocks noGrp="1"/>
          </p:cNvSpPr>
          <p:nvPr>
            <p:ph type="body" idx="1"/>
          </p:nvPr>
        </p:nvSpPr>
        <p:spPr/>
        <p:txBody>
          <a:bodyPr/>
          <a:lstStyle/>
          <a:p>
            <a:r>
              <a:rPr lang="en-US" dirty="0"/>
              <a:t>This chart shows it by county. Green is served, red is underserved. Harris has some green in the center but the suburban ring is mostly orange and red. Every other county is almost entirely red. The pattern is clear.</a:t>
            </a:r>
          </a:p>
        </p:txBody>
      </p:sp>
      <p:sp>
        <p:nvSpPr>
          <p:cNvPr id="4" name="Slide Number Placeholder 3">
            <a:extLst>
              <a:ext uri="{FF2B5EF4-FFF2-40B4-BE49-F238E27FC236}">
                <a16:creationId xmlns:a16="http://schemas.microsoft.com/office/drawing/2014/main" id="{EE660A1F-F5F1-9016-3AC2-92FBF862F3D7}"/>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6106163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This chart answers one simple question — where should </a:t>
            </a:r>
            <a:r>
              <a:rPr lang="en-US" dirty="0" err="1"/>
              <a:t>the platform</a:t>
            </a:r>
            <a:r>
              <a:rPr lang="en-US" dirty="0"/>
              <a:t xml:space="preserve"> look first?</a:t>
            </a:r>
          </a:p>
          <a:p>
            <a:r>
              <a:rPr lang="en-US" dirty="0"/>
              <a:t>Think of it this way. The dots on the left are markets where competitors already have a foothold — central Houston, well-served, hard to break in. The dots on the right are markets where haulers are driving long distances because nothing exists nearby. The higher the dot, the bigger the revenue potential because more restaurants mean more waste volume.</a:t>
            </a:r>
          </a:p>
          <a:p>
            <a:r>
              <a:rPr lang="en-US" dirty="0"/>
              <a:t>So the upper right corner is where the money is — strong demand, no competition. The Woodlands sits right there — 83 restaurants generating waste with the nearest facility 22 miles away. Katy is another one — 106 restaurants, nearly 12 miles from disposal. These aren't just data points — these are haulers making that round trip every single day, burning fuel, losing time, and looking for a closer option.</a:t>
            </a:r>
          </a:p>
          <a:p>
            <a:r>
              <a:rPr lang="en-US" dirty="0" err="1"/>
              <a:t>the platform</a:t>
            </a:r>
            <a:r>
              <a:rPr lang="en-US" dirty="0"/>
              <a:t xml:space="preserve"> doesn't need to compete with </a:t>
            </a:r>
            <a:r>
              <a:rPr lang="en-US" dirty="0" err="1"/>
              <a:t>Southwaste</a:t>
            </a:r>
            <a:r>
              <a:rPr lang="en-US" dirty="0"/>
              <a:t xml:space="preserve"> in central Houston. The opportunity is out here on the right — markets that existing operators simply don't reach.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regulatory drivers making the timing right.</a:t>
            </a:r>
          </a:p>
          <a:p>
            <a:r>
              <a:rPr lang="en-US" dirty="0"/>
              <a:t>First — Houston cut FOG discharge limits from 400 to 200 milligrams per liter in December 2023. Restaurants that were fine at 350 are now in violation. That roughly doubled the number of businesses needing pretreatment. And for 2026, Houston is also tightening hauler enforcement — stricter inspections, waste must be disposed within 4 days of pickup, fines up to $2,000.</a:t>
            </a:r>
          </a:p>
          <a:p>
            <a:r>
              <a:rPr lang="en-US" dirty="0"/>
              <a:t>Second — surcharges. Harris County charges $2.50 to $5.00 per thousand gallons above baseline. At that rate, pretreatment is simply cheaper than the penalty.</a:t>
            </a:r>
          </a:p>
          <a:p>
            <a:r>
              <a:rPr lang="en-US" dirty="0"/>
              <a:t xml:space="preserve">Third — Houston's EPA Consent Decree. The city committed 3 to 5 billion over 22 years to fix their sewer system. They want partners that reduce system load. </a:t>
            </a:r>
            <a:r>
              <a:rPr lang="en-US" dirty="0" err="1"/>
              <a:t>the platform's</a:t>
            </a:r>
            <a:r>
              <a:rPr lang="en-US" dirty="0"/>
              <a:t xml:space="preserve"> pretreatment model is exactly that.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F61E5-2941-9C49-5F77-31585FD789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BEE290-8767-035E-BBB2-50D00C8407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C20811-4A6A-4FF9-419E-A28248614E15}"/>
              </a:ext>
            </a:extLst>
          </p:cNvPr>
          <p:cNvSpPr>
            <a:spLocks noGrp="1"/>
          </p:cNvSpPr>
          <p:nvPr>
            <p:ph type="body" idx="1"/>
          </p:nvPr>
        </p:nvSpPr>
        <p:spPr/>
        <p:txBody>
          <a:bodyPr/>
          <a:lstStyle/>
          <a:p>
            <a:r>
              <a:rPr lang="en-US" dirty="0"/>
              <a:t>This chart shows how much grease each county allows in their sewer before penalties kick in. Think of it like a speed limit — the lower the number, the stricter the rule, the easier it is to get fined.</a:t>
            </a:r>
          </a:p>
          <a:p>
            <a:r>
              <a:rPr lang="en-US" dirty="0"/>
              <a:t>Houston is the strictest at 200. A year ago it was 400 — they cut it in half. Fort Bend and Montgomery are at 250. Galveston and Brazoria at 300.</a:t>
            </a:r>
          </a:p>
          <a:p>
            <a:r>
              <a:rPr lang="en-US" dirty="0"/>
              <a:t xml:space="preserve">Now here's what's interesting nationally. EPA's 2026 draft guidance says if you're using chemicals or bacteria to break down grease inside your trap — that doesn't count as removing it. The grease still ends up in the sewer, just in liquid form. The only thing that counts as real removal is physically taking it out and pretreating it. That's literally what </a:t>
            </a:r>
            <a:r>
              <a:rPr lang="en-US" dirty="0" err="1"/>
              <a:t>the platform</a:t>
            </a:r>
            <a:r>
              <a:rPr lang="en-US" dirty="0"/>
              <a:t xml:space="preserve"> does. So the federal direction is moving toward </a:t>
            </a:r>
            <a:r>
              <a:rPr lang="en-US" dirty="0" err="1"/>
              <a:t>the platform's</a:t>
            </a:r>
            <a:r>
              <a:rPr lang="en-US" dirty="0"/>
              <a:t xml:space="preserve"> exact model.</a:t>
            </a:r>
          </a:p>
        </p:txBody>
      </p:sp>
      <p:sp>
        <p:nvSpPr>
          <p:cNvPr id="4" name="Slide Number Placeholder 3">
            <a:extLst>
              <a:ext uri="{FF2B5EF4-FFF2-40B4-BE49-F238E27FC236}">
                <a16:creationId xmlns:a16="http://schemas.microsoft.com/office/drawing/2014/main" id="{3FE08EFC-0D60-D266-9A56-9C1B6B9FFCF0}"/>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3469479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everything — Fort Bend is the strongest first move.</a:t>
            </a:r>
          </a:p>
          <a:p>
            <a:r>
              <a:rPr lang="en-US" dirty="0"/>
              <a:t>1,522 establishments. Zero 5GG facilities. Population 870,000 — added 24,000 people just last year and projected to hit one million by 2030. Haulers are already driving 10 to 17 miles into Harris for every load. A facility near Sugar Land captures that immediately.</a:t>
            </a:r>
          </a:p>
          <a:p>
            <a:r>
              <a:rPr lang="en-US" dirty="0"/>
              <a:t>The only thing in Fort Bend right now is one liquid waste transfer station — no pretreatment. The surcharge structure is moderate at $2 to $4 with a 250 FOG limit. When that limit tightens — and it will, following Houston's lead — the economics get even stronger.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markets after Fort Bend — each at a different stage but all with the same story: demand exists, disposal doesn't.</a:t>
            </a:r>
          </a:p>
          <a:p>
            <a:r>
              <a:rPr lang="en-US" dirty="0"/>
              <a:t>Montgomery County is the biggest untapped opportunity after Fort Bend. Nearly 1,200 restaurants, population just crossed 780,000, and they added 30,000 people last year alone — that's the fourth highest numeric growth of any county in the entire country. Every single restaurant zone here is classified as underserved. There is no 5GG facility within 22 miles. The addressable market is large, growing, and completely uncontested.</a:t>
            </a:r>
          </a:p>
          <a:p>
            <a:r>
              <a:rPr lang="en-US" dirty="0"/>
              <a:t xml:space="preserve">Harris County suburban ring — Katy, Humble, Cypress. Now this is interesting because technically there are facilities in Harris County, but they're all in central Houston. A hauler in Katy is still driving 12 miles each way. With the FOG limit now at 200, the volume of waste that needs pretreatment just increased across the entire county. The suburban corridors are where that new demand is showing up, and the existing central facilities aren't positioned to capture it. There's room for a new entrant without going head to head with </a:t>
            </a:r>
            <a:r>
              <a:rPr lang="en-US" dirty="0" err="1"/>
              <a:t>Southwaste</a:t>
            </a:r>
            <a:r>
              <a:rPr lang="en-US" dirty="0"/>
              <a:t>.</a:t>
            </a:r>
          </a:p>
          <a:p>
            <a:r>
              <a:rPr lang="en-US" dirty="0"/>
              <a:t>And Brazoria — 689 establishments, population 419,000 and growing. Smaller revenue pool today, yes. But zero competition means zero customer acquisition cost. For a platform that's building out its first few facilities, an uncontested market where you can establish operations, build hauler relationships, and generate steady cash flow while scaling into larger markets — that has real strategic value beyond just the top-line number.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Houston is ready for </a:t>
            </a:r>
            <a:r>
              <a:rPr lang="en-US" dirty="0" err="1"/>
              <a:t>the platform</a:t>
            </a:r>
            <a:r>
              <a:rPr lang="en-US" dirty="0"/>
              <a:t>.</a:t>
            </a:r>
          </a:p>
          <a:p>
            <a:r>
              <a:rPr lang="en-US" dirty="0"/>
              <a:t>14,532 restaurants. 6 operating facilities — one company controlling over 60% of capacity. Three more that were supposed to be built never were. 8 counties with nothing. FOG regulations tightening. Population growing faster than any metro in the country.</a:t>
            </a:r>
          </a:p>
          <a:p>
            <a:r>
              <a:rPr lang="en-US" dirty="0"/>
              <a:t>Enter Fort Bend first. 1,522 establishments, zero competitors, a million people by 2030, haulers already driving into Harris. A facility near Sugar Land captures immediate demand.</a:t>
            </a:r>
          </a:p>
          <a:p>
            <a:r>
              <a:rPr lang="en-US" dirty="0"/>
              <a:t>Then Montgomery. Then the Harris suburban ring as regulations push demand outward.</a:t>
            </a:r>
          </a:p>
          <a:p>
            <a:r>
              <a:rPr lang="en-US" dirty="0"/>
              <a:t>The market is there. The infrastructure is not. That's the opportunity.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Happy to walk through the data sources and methodology. It's all detailed in the written report I shared.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That's what I found. I'd love to hear how it compares to your own diligence — and I'm happy to dig into any area</a:t>
            </a:r>
            <a:endParaRPr lang="en-IN" dirty="0"/>
          </a:p>
        </p:txBody>
      </p:sp>
    </p:spTree>
    <p:extLst>
      <p:ext uri="{BB962C8B-B14F-4D97-AF65-F5344CB8AC3E}">
        <p14:creationId xmlns:p14="http://schemas.microsoft.com/office/powerpoint/2010/main" val="1056253766"/>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3" Type="http://schemas.openxmlformats.org/officeDocument/2006/relationships/hyperlink" Target="file:///D:\Houston\Houston_Market_Map2.html"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731520" y="457200"/>
            <a:ext cx="7315200" cy="457200"/>
          </a:xfrm>
          <a:prstGeom prst="rect">
            <a:avLst/>
          </a:prstGeom>
          <a:noFill/>
          <a:ln/>
        </p:spPr>
        <p:txBody>
          <a:bodyPr wrap="square" lIns="0" tIns="0" rIns="0" bIns="0" rtlCol="0" anchor="ctr"/>
          <a:lstStyle/>
          <a:p>
            <a:pPr marL="0" indent="0">
              <a:buNone/>
            </a:pPr>
            <a:r>
              <a:rPr lang="en-US" sz="1400" b="1" kern="0" spc="400" dirty="0">
                <a:solidFill>
                  <a:srgbClr val="4DA8DA"/>
                </a:solidFill>
                <a:latin typeface="Arial" pitchFamily="34" charset="0"/>
                <a:ea typeface="Arial" pitchFamily="34" charset="-122"/>
                <a:cs typeface="Arial" pitchFamily="34" charset="-120"/>
              </a:rPr>
              <a:t>Greater Houston Market Evaluation</a:t>
            </a:r>
            <a:endParaRPr lang="en-US" sz="1400" dirty="0"/>
          </a:p>
        </p:txBody>
      </p:sp>
      <p:sp>
        <p:nvSpPr>
          <p:cNvPr id="3" name="Text 1"/>
          <p:cNvSpPr/>
          <p:nvPr/>
        </p:nvSpPr>
        <p:spPr>
          <a:xfrm>
            <a:off x="731520" y="1188720"/>
            <a:ext cx="7315200" cy="2011680"/>
          </a:xfrm>
          <a:prstGeom prst="rect">
            <a:avLst/>
          </a:prstGeom>
          <a:noFill/>
          <a:ln/>
        </p:spPr>
        <p:txBody>
          <a:bodyPr wrap="square" lIns="0" tIns="0" rIns="0" bIns="0" rtlCol="0" anchor="ctr"/>
          <a:lstStyle/>
          <a:p>
            <a:pPr marL="0" indent="0">
              <a:lnSpc>
                <a:spcPct val="110000"/>
              </a:lnSpc>
              <a:buNone/>
            </a:pPr>
            <a:r>
              <a:rPr lang="en-US" sz="4000" b="1" dirty="0">
                <a:solidFill>
                  <a:srgbClr val="FFFFFF"/>
                </a:solidFill>
                <a:latin typeface="Georgia" pitchFamily="34" charset="0"/>
                <a:ea typeface="Georgia" pitchFamily="34" charset="-122"/>
                <a:cs typeface="Georgia" pitchFamily="34" charset="-120"/>
              </a:rPr>
              <a:t>Greater Houston Metro</a:t>
            </a:r>
            <a:endParaRPr lang="en-US" sz="4000" dirty="0"/>
          </a:p>
          <a:p>
            <a:pPr marL="0" indent="0">
              <a:lnSpc>
                <a:spcPct val="110000"/>
              </a:lnSpc>
              <a:buNone/>
            </a:pPr>
            <a:r>
              <a:rPr lang="en-US" sz="4000" b="1" dirty="0">
                <a:solidFill>
                  <a:srgbClr val="FFFFFF"/>
                </a:solidFill>
                <a:latin typeface="Georgia" pitchFamily="34" charset="0"/>
                <a:ea typeface="Georgia" pitchFamily="34" charset="-122"/>
                <a:cs typeface="Georgia" pitchFamily="34" charset="-120"/>
              </a:rPr>
              <a:t>Market Evaluation</a:t>
            </a:r>
            <a:endParaRPr lang="en-US" sz="4000" dirty="0"/>
          </a:p>
        </p:txBody>
      </p:sp>
      <p:sp>
        <p:nvSpPr>
          <p:cNvPr id="4" name="Text 2"/>
          <p:cNvSpPr/>
          <p:nvPr/>
        </p:nvSpPr>
        <p:spPr>
          <a:xfrm>
            <a:off x="731520" y="3108960"/>
            <a:ext cx="7315200" cy="457200"/>
          </a:xfrm>
          <a:prstGeom prst="rect">
            <a:avLst/>
          </a:prstGeom>
          <a:noFill/>
          <a:ln/>
        </p:spPr>
        <p:txBody>
          <a:bodyPr wrap="square" lIns="0" tIns="0" rIns="0" bIns="0" rtlCol="0" anchor="ctr"/>
          <a:lstStyle/>
          <a:p>
            <a:pPr marL="0" indent="0">
              <a:buNone/>
            </a:pPr>
            <a:r>
              <a:rPr lang="en-US" sz="1600" dirty="0">
                <a:solidFill>
                  <a:srgbClr val="4DA8DA"/>
                </a:solidFill>
                <a:latin typeface="Arial" pitchFamily="34" charset="0"/>
                <a:ea typeface="Arial" pitchFamily="34" charset="-122"/>
                <a:cs typeface="Arial" pitchFamily="34" charset="-120"/>
              </a:rPr>
              <a:t>Grease Trap Waste Disposal Demand &amp; Competitive Landscape</a:t>
            </a:r>
            <a:endParaRPr lang="en-US" sz="1600" dirty="0"/>
          </a:p>
        </p:txBody>
      </p:sp>
      <p:sp>
        <p:nvSpPr>
          <p:cNvPr id="5" name="Shape 3"/>
          <p:cNvSpPr/>
          <p:nvPr/>
        </p:nvSpPr>
        <p:spPr>
          <a:xfrm>
            <a:off x="731520" y="3749040"/>
            <a:ext cx="2286000" cy="0"/>
          </a:xfrm>
          <a:prstGeom prst="line">
            <a:avLst/>
          </a:prstGeom>
          <a:noFill/>
          <a:ln w="25400">
            <a:solidFill>
              <a:srgbClr val="4DA8DA"/>
            </a:solidFill>
            <a:prstDash val="solid"/>
          </a:ln>
        </p:spPr>
      </p:sp>
      <p:sp>
        <p:nvSpPr>
          <p:cNvPr id="6" name="Text 4"/>
          <p:cNvSpPr/>
          <p:nvPr/>
        </p:nvSpPr>
        <p:spPr>
          <a:xfrm>
            <a:off x="731520" y="4023360"/>
            <a:ext cx="4572000" cy="914400"/>
          </a:xfrm>
          <a:prstGeom prst="rect">
            <a:avLst/>
          </a:prstGeom>
          <a:noFill/>
          <a:ln/>
        </p:spPr>
        <p:txBody>
          <a:bodyPr wrap="square" lIns="0" tIns="0" rIns="0" bIns="0" rtlCol="0" anchor="ctr"/>
          <a:lstStyle/>
          <a:p>
            <a:pPr marL="0" indent="0">
              <a:lnSpc>
                <a:spcPct val="140000"/>
              </a:lnSpc>
              <a:buNone/>
            </a:pPr>
            <a:r>
              <a:rPr lang="en-US" sz="1200" dirty="0">
                <a:solidFill>
                  <a:srgbClr val="7F8C8D"/>
                </a:solidFill>
                <a:latin typeface="Arial" pitchFamily="34" charset="0"/>
                <a:ea typeface="Arial" pitchFamily="34" charset="-122"/>
                <a:cs typeface="Arial" pitchFamily="34" charset="-120"/>
              </a:rPr>
              <a:t>Saloni Subhash Shahi</a:t>
            </a:r>
            <a:endParaRPr lang="en-US" sz="1200" dirty="0"/>
          </a:p>
          <a:p>
            <a:pPr marL="0" indent="0">
              <a:lnSpc>
                <a:spcPct val="140000"/>
              </a:lnSpc>
              <a:buNone/>
            </a:pPr>
            <a:r>
              <a:rPr lang="en-US" sz="1200" dirty="0">
                <a:solidFill>
                  <a:srgbClr val="7F8C8D"/>
                </a:solidFill>
                <a:latin typeface="Arial" pitchFamily="34" charset="0"/>
                <a:ea typeface="Arial" pitchFamily="34" charset="-122"/>
                <a:cs typeface="Arial" pitchFamily="34" charset="-120"/>
              </a:rPr>
              <a:t>MS Business Analytics, Northeastern University</a:t>
            </a:r>
            <a:endParaRPr lang="en-US" sz="1200" dirty="0"/>
          </a:p>
          <a:p>
            <a:pPr marL="0" indent="0">
              <a:lnSpc>
                <a:spcPct val="140000"/>
              </a:lnSpc>
              <a:buNone/>
            </a:pPr>
            <a:r>
              <a:rPr lang="en-US" sz="1200" dirty="0">
                <a:solidFill>
                  <a:srgbClr val="7F8C8D"/>
                </a:solidFill>
                <a:latin typeface="Arial" pitchFamily="34" charset="0"/>
                <a:ea typeface="Arial" pitchFamily="34" charset="-122"/>
                <a:cs typeface="Arial" pitchFamily="34" charset="-120"/>
              </a:rPr>
              <a:t>May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274320"/>
            <a:ext cx="8229600" cy="457200"/>
          </a:xfrm>
          <a:prstGeom prst="rect">
            <a:avLst/>
          </a:prstGeom>
          <a:noFill/>
          <a:ln/>
        </p:spPr>
        <p:txBody>
          <a:bodyPr wrap="square" rtlCol="0" anchor="ctr"/>
          <a:lstStyle/>
          <a:p>
            <a:pPr marL="0" indent="0">
              <a:buNone/>
            </a:pPr>
            <a:r>
              <a:rPr lang="en-US" sz="1100" b="1" kern="0" spc="300" dirty="0">
                <a:solidFill>
                  <a:srgbClr val="4DA8DA"/>
                </a:solidFill>
                <a:latin typeface="Arial" pitchFamily="34" charset="0"/>
                <a:ea typeface="Arial" pitchFamily="34" charset="-122"/>
                <a:cs typeface="Arial" pitchFamily="34" charset="-120"/>
              </a:rPr>
              <a:t>AGENDA</a:t>
            </a:r>
            <a:endParaRPr lang="en-US" sz="1100" dirty="0"/>
          </a:p>
        </p:txBody>
      </p:sp>
      <p:sp>
        <p:nvSpPr>
          <p:cNvPr id="3" name="Text 1"/>
          <p:cNvSpPr/>
          <p:nvPr/>
        </p:nvSpPr>
        <p:spPr>
          <a:xfrm>
            <a:off x="731520" y="640080"/>
            <a:ext cx="7315200" cy="548640"/>
          </a:xfrm>
          <a:prstGeom prst="rect">
            <a:avLst/>
          </a:prstGeom>
          <a:noFill/>
          <a:ln/>
        </p:spPr>
        <p:txBody>
          <a:bodyPr wrap="square" rtlCol="0" anchor="ctr"/>
          <a:lstStyle/>
          <a:p>
            <a:pPr marL="0" indent="0">
              <a:buNone/>
            </a:pPr>
            <a:r>
              <a:rPr lang="en-US" sz="2800" b="1" dirty="0">
                <a:solidFill>
                  <a:srgbClr val="1B3A5C"/>
                </a:solidFill>
                <a:latin typeface="Georgia" pitchFamily="34" charset="0"/>
                <a:ea typeface="Georgia" pitchFamily="34" charset="-122"/>
                <a:cs typeface="Georgia" pitchFamily="34" charset="-120"/>
              </a:rPr>
              <a:t>Greater Houston Market Evaluation</a:t>
            </a:r>
            <a:endParaRPr lang="en-US" sz="2800" dirty="0"/>
          </a:p>
        </p:txBody>
      </p:sp>
      <p:sp>
        <p:nvSpPr>
          <p:cNvPr id="4" name="Text 2"/>
          <p:cNvSpPr/>
          <p:nvPr/>
        </p:nvSpPr>
        <p:spPr>
          <a:xfrm>
            <a:off x="731520" y="1371600"/>
            <a:ext cx="548640" cy="365760"/>
          </a:xfrm>
          <a:prstGeom prst="rect">
            <a:avLst/>
          </a:prstGeom>
          <a:noFill/>
          <a:ln/>
        </p:spPr>
        <p:txBody>
          <a:bodyPr wrap="square" rtlCol="0" anchor="ctr"/>
          <a:lstStyle/>
          <a:p>
            <a:pPr marL="0" indent="0">
              <a:buNone/>
            </a:pPr>
            <a:r>
              <a:rPr lang="en-US" sz="1600" b="1" dirty="0">
                <a:solidFill>
                  <a:srgbClr val="4DA8DA"/>
                </a:solidFill>
                <a:latin typeface="Georgia" pitchFamily="34" charset="0"/>
                <a:ea typeface="Georgia" pitchFamily="34" charset="-122"/>
                <a:cs typeface="Georgia" pitchFamily="34" charset="-120"/>
              </a:rPr>
              <a:t>01</a:t>
            </a:r>
            <a:endParaRPr lang="en-US" sz="1600" dirty="0"/>
          </a:p>
        </p:txBody>
      </p:sp>
      <p:sp>
        <p:nvSpPr>
          <p:cNvPr id="5" name="Text 3"/>
          <p:cNvSpPr/>
          <p:nvPr/>
        </p:nvSpPr>
        <p:spPr>
          <a:xfrm>
            <a:off x="1371600" y="1371600"/>
            <a:ext cx="3200400" cy="365760"/>
          </a:xfrm>
          <a:prstGeom prst="rect">
            <a:avLst/>
          </a:prstGeom>
          <a:noFill/>
          <a:ln/>
        </p:spPr>
        <p:txBody>
          <a:bodyPr wrap="square" rtlCol="0" anchor="ctr"/>
          <a:lstStyle/>
          <a:p>
            <a:pPr marL="0" indent="0">
              <a:buNone/>
            </a:pPr>
            <a:r>
              <a:rPr lang="en-US" sz="1400" b="1" dirty="0">
                <a:solidFill>
                  <a:srgbClr val="1B3A5C"/>
                </a:solidFill>
                <a:latin typeface="Arial" pitchFamily="34" charset="0"/>
                <a:ea typeface="Arial" pitchFamily="34" charset="-122"/>
                <a:cs typeface="Arial" pitchFamily="34" charset="-120"/>
              </a:rPr>
              <a:t>The Infrastructure Gap</a:t>
            </a:r>
            <a:endParaRPr lang="en-US" sz="1400" dirty="0"/>
          </a:p>
        </p:txBody>
      </p:sp>
      <p:sp>
        <p:nvSpPr>
          <p:cNvPr id="6" name="Text 4"/>
          <p:cNvSpPr/>
          <p:nvPr/>
        </p:nvSpPr>
        <p:spPr>
          <a:xfrm>
            <a:off x="4754880" y="1371600"/>
            <a:ext cx="4114800" cy="365760"/>
          </a:xfrm>
          <a:prstGeom prst="rect">
            <a:avLst/>
          </a:prstGeom>
          <a:noFill/>
          <a:ln/>
        </p:spPr>
        <p:txBody>
          <a:bodyPr wrap="square" rtlCol="0" anchor="ctr"/>
          <a:lstStyle/>
          <a:p>
            <a:pPr marL="0" indent="0">
              <a:buNone/>
            </a:pPr>
            <a:r>
              <a:rPr lang="en-US" sz="1100" dirty="0">
                <a:solidFill>
                  <a:srgbClr val="7F8C8D"/>
                </a:solidFill>
                <a:latin typeface="Arial" pitchFamily="34" charset="0"/>
                <a:ea typeface="Arial" pitchFamily="34" charset="-122"/>
                <a:cs typeface="Arial" pitchFamily="34" charset="-120"/>
              </a:rPr>
              <a:t>Market size and the core problem</a:t>
            </a:r>
            <a:endParaRPr lang="en-US" sz="1100" dirty="0"/>
          </a:p>
        </p:txBody>
      </p:sp>
      <p:sp>
        <p:nvSpPr>
          <p:cNvPr id="7" name="Shape 5"/>
          <p:cNvSpPr/>
          <p:nvPr/>
        </p:nvSpPr>
        <p:spPr>
          <a:xfrm>
            <a:off x="731520" y="1755648"/>
            <a:ext cx="7680960" cy="0"/>
          </a:xfrm>
          <a:prstGeom prst="line">
            <a:avLst/>
          </a:prstGeom>
          <a:noFill/>
          <a:ln w="6350">
            <a:solidFill>
              <a:srgbClr val="E8E8E8"/>
            </a:solidFill>
            <a:prstDash val="solid"/>
          </a:ln>
        </p:spPr>
      </p:sp>
      <p:sp>
        <p:nvSpPr>
          <p:cNvPr id="8" name="Text 6"/>
          <p:cNvSpPr/>
          <p:nvPr/>
        </p:nvSpPr>
        <p:spPr>
          <a:xfrm>
            <a:off x="731520" y="1828800"/>
            <a:ext cx="548640" cy="365760"/>
          </a:xfrm>
          <a:prstGeom prst="rect">
            <a:avLst/>
          </a:prstGeom>
          <a:noFill/>
          <a:ln/>
        </p:spPr>
        <p:txBody>
          <a:bodyPr wrap="square" rtlCol="0" anchor="ctr"/>
          <a:lstStyle/>
          <a:p>
            <a:pPr marL="0" indent="0">
              <a:buNone/>
            </a:pPr>
            <a:r>
              <a:rPr lang="en-US" sz="1600" b="1" dirty="0">
                <a:solidFill>
                  <a:srgbClr val="4DA8DA"/>
                </a:solidFill>
                <a:latin typeface="Georgia" pitchFamily="34" charset="0"/>
                <a:ea typeface="Georgia" pitchFamily="34" charset="-122"/>
                <a:cs typeface="Georgia" pitchFamily="34" charset="-120"/>
              </a:rPr>
              <a:t>02</a:t>
            </a:r>
            <a:endParaRPr lang="en-US" sz="1600" dirty="0"/>
          </a:p>
        </p:txBody>
      </p:sp>
      <p:sp>
        <p:nvSpPr>
          <p:cNvPr id="9" name="Text 7"/>
          <p:cNvSpPr/>
          <p:nvPr/>
        </p:nvSpPr>
        <p:spPr>
          <a:xfrm>
            <a:off x="1371600" y="1828800"/>
            <a:ext cx="3200400" cy="365760"/>
          </a:xfrm>
          <a:prstGeom prst="rect">
            <a:avLst/>
          </a:prstGeom>
          <a:noFill/>
          <a:ln/>
        </p:spPr>
        <p:txBody>
          <a:bodyPr wrap="square" rtlCol="0" anchor="ctr"/>
          <a:lstStyle/>
          <a:p>
            <a:pPr marL="0" indent="0">
              <a:buNone/>
            </a:pPr>
            <a:r>
              <a:rPr lang="en-US" sz="1400" b="1" dirty="0">
                <a:solidFill>
                  <a:srgbClr val="1B3A5C"/>
                </a:solidFill>
                <a:latin typeface="Arial" pitchFamily="34" charset="0"/>
                <a:ea typeface="Arial" pitchFamily="34" charset="-122"/>
                <a:cs typeface="Arial" pitchFamily="34" charset="-120"/>
              </a:rPr>
              <a:t>Demand Analysis</a:t>
            </a:r>
            <a:endParaRPr lang="en-US" sz="1400" dirty="0"/>
          </a:p>
        </p:txBody>
      </p:sp>
      <p:sp>
        <p:nvSpPr>
          <p:cNvPr id="10" name="Text 8"/>
          <p:cNvSpPr/>
          <p:nvPr/>
        </p:nvSpPr>
        <p:spPr>
          <a:xfrm>
            <a:off x="4754880" y="1828800"/>
            <a:ext cx="4114800" cy="365760"/>
          </a:xfrm>
          <a:prstGeom prst="rect">
            <a:avLst/>
          </a:prstGeom>
          <a:noFill/>
          <a:ln/>
        </p:spPr>
        <p:txBody>
          <a:bodyPr wrap="square" rtlCol="0" anchor="ctr"/>
          <a:lstStyle/>
          <a:p>
            <a:pPr marL="0" indent="0">
              <a:buNone/>
            </a:pPr>
            <a:r>
              <a:rPr lang="en-US" sz="1100" dirty="0">
                <a:solidFill>
                  <a:srgbClr val="7F8C8D"/>
                </a:solidFill>
                <a:latin typeface="Arial" pitchFamily="34" charset="0"/>
                <a:ea typeface="Arial" pitchFamily="34" charset="-122"/>
                <a:cs typeface="Arial" pitchFamily="34" charset="-120"/>
              </a:rPr>
              <a:t>14,532 establishments across 9 counties</a:t>
            </a:r>
            <a:endParaRPr lang="en-US" sz="1100" dirty="0"/>
          </a:p>
        </p:txBody>
      </p:sp>
      <p:sp>
        <p:nvSpPr>
          <p:cNvPr id="11" name="Shape 9"/>
          <p:cNvSpPr/>
          <p:nvPr/>
        </p:nvSpPr>
        <p:spPr>
          <a:xfrm>
            <a:off x="731520" y="2212848"/>
            <a:ext cx="7680960" cy="0"/>
          </a:xfrm>
          <a:prstGeom prst="line">
            <a:avLst/>
          </a:prstGeom>
          <a:noFill/>
          <a:ln w="6350">
            <a:solidFill>
              <a:srgbClr val="E8E8E8"/>
            </a:solidFill>
            <a:prstDash val="solid"/>
          </a:ln>
        </p:spPr>
      </p:sp>
      <p:sp>
        <p:nvSpPr>
          <p:cNvPr id="12" name="Text 10"/>
          <p:cNvSpPr/>
          <p:nvPr/>
        </p:nvSpPr>
        <p:spPr>
          <a:xfrm>
            <a:off x="731520" y="2286000"/>
            <a:ext cx="548640" cy="365760"/>
          </a:xfrm>
          <a:prstGeom prst="rect">
            <a:avLst/>
          </a:prstGeom>
          <a:noFill/>
          <a:ln/>
        </p:spPr>
        <p:txBody>
          <a:bodyPr wrap="square" rtlCol="0" anchor="ctr"/>
          <a:lstStyle/>
          <a:p>
            <a:pPr marL="0" indent="0">
              <a:buNone/>
            </a:pPr>
            <a:r>
              <a:rPr lang="en-US" sz="1600" b="1" dirty="0">
                <a:solidFill>
                  <a:srgbClr val="4DA8DA"/>
                </a:solidFill>
                <a:latin typeface="Georgia" pitchFamily="34" charset="0"/>
                <a:ea typeface="Georgia" pitchFamily="34" charset="-122"/>
                <a:cs typeface="Georgia" pitchFamily="34" charset="-120"/>
              </a:rPr>
              <a:t>03</a:t>
            </a:r>
            <a:endParaRPr lang="en-US" sz="1600" dirty="0"/>
          </a:p>
        </p:txBody>
      </p:sp>
      <p:sp>
        <p:nvSpPr>
          <p:cNvPr id="13" name="Text 11"/>
          <p:cNvSpPr/>
          <p:nvPr/>
        </p:nvSpPr>
        <p:spPr>
          <a:xfrm>
            <a:off x="1371600" y="2286000"/>
            <a:ext cx="3200400" cy="365760"/>
          </a:xfrm>
          <a:prstGeom prst="rect">
            <a:avLst/>
          </a:prstGeom>
          <a:noFill/>
          <a:ln/>
        </p:spPr>
        <p:txBody>
          <a:bodyPr wrap="square" rtlCol="0" anchor="ctr"/>
          <a:lstStyle/>
          <a:p>
            <a:pPr marL="0" indent="0">
              <a:buNone/>
            </a:pPr>
            <a:r>
              <a:rPr lang="en-US" sz="1400" b="1" dirty="0">
                <a:solidFill>
                  <a:srgbClr val="1B3A5C"/>
                </a:solidFill>
                <a:latin typeface="Arial" pitchFamily="34" charset="0"/>
                <a:ea typeface="Arial" pitchFamily="34" charset="-122"/>
                <a:cs typeface="Arial" pitchFamily="34" charset="-120"/>
              </a:rPr>
              <a:t>Restaurant Density Map</a:t>
            </a:r>
            <a:endParaRPr lang="en-US" sz="1400" dirty="0"/>
          </a:p>
        </p:txBody>
      </p:sp>
      <p:sp>
        <p:nvSpPr>
          <p:cNvPr id="14" name="Text 12"/>
          <p:cNvSpPr/>
          <p:nvPr/>
        </p:nvSpPr>
        <p:spPr>
          <a:xfrm>
            <a:off x="4754880" y="2286000"/>
            <a:ext cx="4114800" cy="365760"/>
          </a:xfrm>
          <a:prstGeom prst="rect">
            <a:avLst/>
          </a:prstGeom>
          <a:noFill/>
          <a:ln/>
        </p:spPr>
        <p:txBody>
          <a:bodyPr wrap="square" rtlCol="0" anchor="ctr"/>
          <a:lstStyle/>
          <a:p>
            <a:pPr marL="0" indent="0">
              <a:buNone/>
            </a:pPr>
            <a:r>
              <a:rPr lang="en-US" sz="1100" dirty="0">
                <a:solidFill>
                  <a:srgbClr val="7F8C8D"/>
                </a:solidFill>
                <a:latin typeface="Arial" pitchFamily="34" charset="0"/>
                <a:ea typeface="Arial" pitchFamily="34" charset="-122"/>
                <a:cs typeface="Arial" pitchFamily="34" charset="-120"/>
              </a:rPr>
              <a:t>Where demand is concentrated</a:t>
            </a:r>
            <a:endParaRPr lang="en-US" sz="1100" dirty="0"/>
          </a:p>
        </p:txBody>
      </p:sp>
      <p:sp>
        <p:nvSpPr>
          <p:cNvPr id="15" name="Shape 13"/>
          <p:cNvSpPr/>
          <p:nvPr/>
        </p:nvSpPr>
        <p:spPr>
          <a:xfrm>
            <a:off x="731520" y="2670048"/>
            <a:ext cx="7680960" cy="0"/>
          </a:xfrm>
          <a:prstGeom prst="line">
            <a:avLst/>
          </a:prstGeom>
          <a:noFill/>
          <a:ln w="6350">
            <a:solidFill>
              <a:srgbClr val="E8E8E8"/>
            </a:solidFill>
            <a:prstDash val="solid"/>
          </a:ln>
        </p:spPr>
      </p:sp>
      <p:sp>
        <p:nvSpPr>
          <p:cNvPr id="16" name="Text 14"/>
          <p:cNvSpPr/>
          <p:nvPr/>
        </p:nvSpPr>
        <p:spPr>
          <a:xfrm>
            <a:off x="731520" y="2743200"/>
            <a:ext cx="548640" cy="365760"/>
          </a:xfrm>
          <a:prstGeom prst="rect">
            <a:avLst/>
          </a:prstGeom>
          <a:noFill/>
          <a:ln/>
        </p:spPr>
        <p:txBody>
          <a:bodyPr wrap="square" rtlCol="0" anchor="ctr"/>
          <a:lstStyle/>
          <a:p>
            <a:pPr marL="0" indent="0">
              <a:buNone/>
            </a:pPr>
            <a:r>
              <a:rPr lang="en-US" sz="1600" b="1" dirty="0">
                <a:solidFill>
                  <a:srgbClr val="4DA8DA"/>
                </a:solidFill>
                <a:latin typeface="Georgia" pitchFamily="34" charset="0"/>
                <a:ea typeface="Georgia" pitchFamily="34" charset="-122"/>
                <a:cs typeface="Georgia" pitchFamily="34" charset="-120"/>
              </a:rPr>
              <a:t>04</a:t>
            </a:r>
            <a:endParaRPr lang="en-US" sz="1600" dirty="0"/>
          </a:p>
        </p:txBody>
      </p:sp>
      <p:sp>
        <p:nvSpPr>
          <p:cNvPr id="17" name="Text 15"/>
          <p:cNvSpPr/>
          <p:nvPr/>
        </p:nvSpPr>
        <p:spPr>
          <a:xfrm>
            <a:off x="1371600" y="2743200"/>
            <a:ext cx="3200400" cy="365760"/>
          </a:xfrm>
          <a:prstGeom prst="rect">
            <a:avLst/>
          </a:prstGeom>
          <a:noFill/>
          <a:ln/>
        </p:spPr>
        <p:txBody>
          <a:bodyPr wrap="square" rtlCol="0" anchor="ctr"/>
          <a:lstStyle/>
          <a:p>
            <a:pPr marL="0" indent="0">
              <a:buNone/>
            </a:pPr>
            <a:r>
              <a:rPr lang="en-US" sz="1400" b="1" dirty="0">
                <a:solidFill>
                  <a:srgbClr val="1B3A5C"/>
                </a:solidFill>
                <a:latin typeface="Arial" pitchFamily="34" charset="0"/>
                <a:ea typeface="Arial" pitchFamily="34" charset="-122"/>
                <a:cs typeface="Arial" pitchFamily="34" charset="-120"/>
              </a:rPr>
              <a:t>Competitive Landscape</a:t>
            </a:r>
            <a:endParaRPr lang="en-US" sz="1400" dirty="0"/>
          </a:p>
        </p:txBody>
      </p:sp>
      <p:sp>
        <p:nvSpPr>
          <p:cNvPr id="18" name="Text 16"/>
          <p:cNvSpPr/>
          <p:nvPr/>
        </p:nvSpPr>
        <p:spPr>
          <a:xfrm>
            <a:off x="4754880" y="2743200"/>
            <a:ext cx="4114800" cy="365760"/>
          </a:xfrm>
          <a:prstGeom prst="rect">
            <a:avLst/>
          </a:prstGeom>
          <a:noFill/>
          <a:ln/>
        </p:spPr>
        <p:txBody>
          <a:bodyPr wrap="square" rtlCol="0" anchor="ctr"/>
          <a:lstStyle/>
          <a:p>
            <a:pPr marL="0" indent="0">
              <a:buNone/>
            </a:pPr>
            <a:r>
              <a:rPr lang="en-US" sz="1100" dirty="0">
                <a:solidFill>
                  <a:srgbClr val="7F8C8D"/>
                </a:solidFill>
                <a:latin typeface="Arial" pitchFamily="34" charset="0"/>
                <a:ea typeface="Arial" pitchFamily="34" charset="-122"/>
                <a:cs typeface="Arial" pitchFamily="34" charset="-120"/>
              </a:rPr>
              <a:t>Who operates, who dominates, market sizing</a:t>
            </a:r>
            <a:endParaRPr lang="en-US" sz="1100" dirty="0"/>
          </a:p>
        </p:txBody>
      </p:sp>
      <p:sp>
        <p:nvSpPr>
          <p:cNvPr id="19" name="Shape 17"/>
          <p:cNvSpPr/>
          <p:nvPr/>
        </p:nvSpPr>
        <p:spPr>
          <a:xfrm>
            <a:off x="731520" y="3127248"/>
            <a:ext cx="7680960" cy="0"/>
          </a:xfrm>
          <a:prstGeom prst="line">
            <a:avLst/>
          </a:prstGeom>
          <a:noFill/>
          <a:ln w="6350">
            <a:solidFill>
              <a:srgbClr val="E8E8E8"/>
            </a:solidFill>
            <a:prstDash val="solid"/>
          </a:ln>
        </p:spPr>
      </p:sp>
      <p:sp>
        <p:nvSpPr>
          <p:cNvPr id="20" name="Text 18"/>
          <p:cNvSpPr/>
          <p:nvPr/>
        </p:nvSpPr>
        <p:spPr>
          <a:xfrm>
            <a:off x="731520" y="3200400"/>
            <a:ext cx="548640" cy="365760"/>
          </a:xfrm>
          <a:prstGeom prst="rect">
            <a:avLst/>
          </a:prstGeom>
          <a:noFill/>
          <a:ln/>
        </p:spPr>
        <p:txBody>
          <a:bodyPr wrap="square" rtlCol="0" anchor="ctr"/>
          <a:lstStyle/>
          <a:p>
            <a:pPr marL="0" indent="0">
              <a:buNone/>
            </a:pPr>
            <a:r>
              <a:rPr lang="en-US" sz="1600" b="1" dirty="0">
                <a:solidFill>
                  <a:srgbClr val="4DA8DA"/>
                </a:solidFill>
                <a:latin typeface="Georgia" pitchFamily="34" charset="0"/>
                <a:ea typeface="Georgia" pitchFamily="34" charset="-122"/>
                <a:cs typeface="Georgia" pitchFamily="34" charset="-120"/>
              </a:rPr>
              <a:t>05</a:t>
            </a:r>
            <a:endParaRPr lang="en-US" sz="1600" dirty="0"/>
          </a:p>
        </p:txBody>
      </p:sp>
      <p:sp>
        <p:nvSpPr>
          <p:cNvPr id="21" name="Text 19"/>
          <p:cNvSpPr/>
          <p:nvPr/>
        </p:nvSpPr>
        <p:spPr>
          <a:xfrm>
            <a:off x="1371600" y="3200400"/>
            <a:ext cx="3200400" cy="365760"/>
          </a:xfrm>
          <a:prstGeom prst="rect">
            <a:avLst/>
          </a:prstGeom>
          <a:noFill/>
          <a:ln/>
        </p:spPr>
        <p:txBody>
          <a:bodyPr wrap="square" rtlCol="0" anchor="ctr"/>
          <a:lstStyle/>
          <a:p>
            <a:pPr marL="0" indent="0">
              <a:buNone/>
            </a:pPr>
            <a:r>
              <a:rPr lang="en-US" sz="1400" b="1" dirty="0">
                <a:solidFill>
                  <a:srgbClr val="1B3A5C"/>
                </a:solidFill>
                <a:latin typeface="Arial" pitchFamily="34" charset="0"/>
                <a:ea typeface="Arial" pitchFamily="34" charset="-122"/>
                <a:cs typeface="Arial" pitchFamily="34" charset="-120"/>
              </a:rPr>
              <a:t>Gap Analysis</a:t>
            </a:r>
            <a:endParaRPr lang="en-US" sz="1400" dirty="0"/>
          </a:p>
        </p:txBody>
      </p:sp>
      <p:sp>
        <p:nvSpPr>
          <p:cNvPr id="22" name="Text 20"/>
          <p:cNvSpPr/>
          <p:nvPr/>
        </p:nvSpPr>
        <p:spPr>
          <a:xfrm>
            <a:off x="4754880" y="3200400"/>
            <a:ext cx="4114800" cy="365760"/>
          </a:xfrm>
          <a:prstGeom prst="rect">
            <a:avLst/>
          </a:prstGeom>
          <a:noFill/>
          <a:ln/>
        </p:spPr>
        <p:txBody>
          <a:bodyPr wrap="square" rtlCol="0" anchor="ctr"/>
          <a:lstStyle/>
          <a:p>
            <a:pPr marL="0" indent="0">
              <a:buNone/>
            </a:pPr>
            <a:r>
              <a:rPr lang="en-US" sz="1100" dirty="0">
                <a:solidFill>
                  <a:srgbClr val="7F8C8D"/>
                </a:solidFill>
                <a:latin typeface="Arial" pitchFamily="34" charset="0"/>
                <a:ea typeface="Arial" pitchFamily="34" charset="-122"/>
                <a:cs typeface="Arial" pitchFamily="34" charset="-120"/>
              </a:rPr>
              <a:t>Quantifying the disposal infrastructure deficit</a:t>
            </a:r>
            <a:endParaRPr lang="en-US" sz="1100" dirty="0"/>
          </a:p>
        </p:txBody>
      </p:sp>
      <p:sp>
        <p:nvSpPr>
          <p:cNvPr id="23" name="Shape 21"/>
          <p:cNvSpPr/>
          <p:nvPr/>
        </p:nvSpPr>
        <p:spPr>
          <a:xfrm>
            <a:off x="731520" y="3584448"/>
            <a:ext cx="7680960" cy="0"/>
          </a:xfrm>
          <a:prstGeom prst="line">
            <a:avLst/>
          </a:prstGeom>
          <a:noFill/>
          <a:ln w="6350">
            <a:solidFill>
              <a:srgbClr val="E8E8E8"/>
            </a:solidFill>
            <a:prstDash val="solid"/>
          </a:ln>
        </p:spPr>
      </p:sp>
      <p:sp>
        <p:nvSpPr>
          <p:cNvPr id="24" name="Text 22"/>
          <p:cNvSpPr/>
          <p:nvPr/>
        </p:nvSpPr>
        <p:spPr>
          <a:xfrm>
            <a:off x="731520" y="3657600"/>
            <a:ext cx="548640" cy="365760"/>
          </a:xfrm>
          <a:prstGeom prst="rect">
            <a:avLst/>
          </a:prstGeom>
          <a:noFill/>
          <a:ln/>
        </p:spPr>
        <p:txBody>
          <a:bodyPr wrap="square" rtlCol="0" anchor="ctr"/>
          <a:lstStyle/>
          <a:p>
            <a:pPr marL="0" indent="0">
              <a:buNone/>
            </a:pPr>
            <a:r>
              <a:rPr lang="en-US" sz="1600" b="1" dirty="0">
                <a:solidFill>
                  <a:srgbClr val="4DA8DA"/>
                </a:solidFill>
                <a:latin typeface="Georgia" pitchFamily="34" charset="0"/>
                <a:ea typeface="Georgia" pitchFamily="34" charset="-122"/>
                <a:cs typeface="Georgia" pitchFamily="34" charset="-120"/>
              </a:rPr>
              <a:t>06</a:t>
            </a:r>
            <a:endParaRPr lang="en-US" sz="1600" dirty="0"/>
          </a:p>
        </p:txBody>
      </p:sp>
      <p:sp>
        <p:nvSpPr>
          <p:cNvPr id="25" name="Text 23"/>
          <p:cNvSpPr/>
          <p:nvPr/>
        </p:nvSpPr>
        <p:spPr>
          <a:xfrm>
            <a:off x="1371600" y="3657600"/>
            <a:ext cx="3200400" cy="365760"/>
          </a:xfrm>
          <a:prstGeom prst="rect">
            <a:avLst/>
          </a:prstGeom>
          <a:noFill/>
          <a:ln/>
        </p:spPr>
        <p:txBody>
          <a:bodyPr wrap="square" rtlCol="0" anchor="ctr"/>
          <a:lstStyle/>
          <a:p>
            <a:pPr marL="0" indent="0">
              <a:buNone/>
            </a:pPr>
            <a:r>
              <a:rPr lang="en-US" sz="1400" b="1" dirty="0">
                <a:solidFill>
                  <a:srgbClr val="1B3A5C"/>
                </a:solidFill>
                <a:latin typeface="Arial" pitchFamily="34" charset="0"/>
                <a:ea typeface="Arial" pitchFamily="34" charset="-122"/>
                <a:cs typeface="Arial" pitchFamily="34" charset="-120"/>
              </a:rPr>
              <a:t>Regulatory Tailwinds</a:t>
            </a:r>
            <a:endParaRPr lang="en-US" sz="1400" dirty="0"/>
          </a:p>
        </p:txBody>
      </p:sp>
      <p:sp>
        <p:nvSpPr>
          <p:cNvPr id="26" name="Text 24"/>
          <p:cNvSpPr/>
          <p:nvPr/>
        </p:nvSpPr>
        <p:spPr>
          <a:xfrm>
            <a:off x="4754880" y="3657600"/>
            <a:ext cx="4114800" cy="365760"/>
          </a:xfrm>
          <a:prstGeom prst="rect">
            <a:avLst/>
          </a:prstGeom>
          <a:noFill/>
          <a:ln/>
        </p:spPr>
        <p:txBody>
          <a:bodyPr wrap="square" rtlCol="0" anchor="ctr"/>
          <a:lstStyle/>
          <a:p>
            <a:pPr marL="0" indent="0">
              <a:buNone/>
            </a:pPr>
            <a:r>
              <a:rPr lang="en-US" sz="1100" dirty="0">
                <a:solidFill>
                  <a:srgbClr val="7F8C8D"/>
                </a:solidFill>
                <a:latin typeface="Arial" pitchFamily="34" charset="0"/>
                <a:ea typeface="Arial" pitchFamily="34" charset="-122"/>
                <a:cs typeface="Arial" pitchFamily="34" charset="-120"/>
              </a:rPr>
              <a:t>FOG limits, surcharges, EPA Consent Decree</a:t>
            </a:r>
            <a:endParaRPr lang="en-US" sz="1100" dirty="0"/>
          </a:p>
        </p:txBody>
      </p:sp>
      <p:sp>
        <p:nvSpPr>
          <p:cNvPr id="27" name="Shape 25"/>
          <p:cNvSpPr/>
          <p:nvPr/>
        </p:nvSpPr>
        <p:spPr>
          <a:xfrm>
            <a:off x="731520" y="4041648"/>
            <a:ext cx="7680960" cy="0"/>
          </a:xfrm>
          <a:prstGeom prst="line">
            <a:avLst/>
          </a:prstGeom>
          <a:noFill/>
          <a:ln w="6350">
            <a:solidFill>
              <a:srgbClr val="E8E8E8"/>
            </a:solidFill>
            <a:prstDash val="solid"/>
          </a:ln>
        </p:spPr>
      </p:sp>
      <p:sp>
        <p:nvSpPr>
          <p:cNvPr id="28" name="Text 26"/>
          <p:cNvSpPr/>
          <p:nvPr/>
        </p:nvSpPr>
        <p:spPr>
          <a:xfrm>
            <a:off x="731520" y="4114800"/>
            <a:ext cx="548640" cy="365760"/>
          </a:xfrm>
          <a:prstGeom prst="rect">
            <a:avLst/>
          </a:prstGeom>
          <a:noFill/>
          <a:ln/>
        </p:spPr>
        <p:txBody>
          <a:bodyPr wrap="square" rtlCol="0" anchor="ctr"/>
          <a:lstStyle/>
          <a:p>
            <a:pPr marL="0" indent="0">
              <a:buNone/>
            </a:pPr>
            <a:r>
              <a:rPr lang="en-US" sz="1600" b="1" dirty="0">
                <a:solidFill>
                  <a:srgbClr val="4DA8DA"/>
                </a:solidFill>
                <a:latin typeface="Georgia" pitchFamily="34" charset="0"/>
                <a:ea typeface="Georgia" pitchFamily="34" charset="-122"/>
                <a:cs typeface="Georgia" pitchFamily="34" charset="-120"/>
              </a:rPr>
              <a:t>07</a:t>
            </a:r>
            <a:endParaRPr lang="en-US" sz="1600" dirty="0"/>
          </a:p>
        </p:txBody>
      </p:sp>
      <p:sp>
        <p:nvSpPr>
          <p:cNvPr id="29" name="Text 27"/>
          <p:cNvSpPr/>
          <p:nvPr/>
        </p:nvSpPr>
        <p:spPr>
          <a:xfrm>
            <a:off x="1371600" y="4114800"/>
            <a:ext cx="3200400" cy="365760"/>
          </a:xfrm>
          <a:prstGeom prst="rect">
            <a:avLst/>
          </a:prstGeom>
          <a:noFill/>
          <a:ln/>
        </p:spPr>
        <p:txBody>
          <a:bodyPr wrap="square" rtlCol="0" anchor="ctr"/>
          <a:lstStyle/>
          <a:p>
            <a:pPr marL="0" indent="0">
              <a:buNone/>
            </a:pPr>
            <a:r>
              <a:rPr lang="en-US" sz="1400" b="1" dirty="0">
                <a:solidFill>
                  <a:srgbClr val="1B3A5C"/>
                </a:solidFill>
                <a:latin typeface="Arial" pitchFamily="34" charset="0"/>
                <a:ea typeface="Arial" pitchFamily="34" charset="-122"/>
                <a:cs typeface="Arial" pitchFamily="34" charset="-120"/>
              </a:rPr>
              <a:t>Opportunity Zones</a:t>
            </a:r>
            <a:endParaRPr lang="en-US" sz="1400" dirty="0"/>
          </a:p>
        </p:txBody>
      </p:sp>
      <p:sp>
        <p:nvSpPr>
          <p:cNvPr id="30" name="Text 28"/>
          <p:cNvSpPr/>
          <p:nvPr/>
        </p:nvSpPr>
        <p:spPr>
          <a:xfrm>
            <a:off x="4754880" y="4114800"/>
            <a:ext cx="4114800" cy="365760"/>
          </a:xfrm>
          <a:prstGeom prst="rect">
            <a:avLst/>
          </a:prstGeom>
          <a:noFill/>
          <a:ln/>
        </p:spPr>
        <p:txBody>
          <a:bodyPr wrap="square" rtlCol="0" anchor="ctr"/>
          <a:lstStyle/>
          <a:p>
            <a:pPr marL="0" indent="0">
              <a:buNone/>
            </a:pPr>
            <a:r>
              <a:rPr lang="en-US" sz="1100" dirty="0">
                <a:solidFill>
                  <a:srgbClr val="7F8C8D"/>
                </a:solidFill>
                <a:latin typeface="Arial" pitchFamily="34" charset="0"/>
                <a:ea typeface="Arial" pitchFamily="34" charset="-122"/>
                <a:cs typeface="Arial" pitchFamily="34" charset="-120"/>
              </a:rPr>
              <a:t>Fort Bend, Montgomery, Harris suburban ring</a:t>
            </a:r>
            <a:endParaRPr lang="en-US" sz="1100" dirty="0"/>
          </a:p>
        </p:txBody>
      </p:sp>
      <p:sp>
        <p:nvSpPr>
          <p:cNvPr id="31" name="Shape 29"/>
          <p:cNvSpPr/>
          <p:nvPr/>
        </p:nvSpPr>
        <p:spPr>
          <a:xfrm>
            <a:off x="731520" y="4498848"/>
            <a:ext cx="7680960" cy="0"/>
          </a:xfrm>
          <a:prstGeom prst="line">
            <a:avLst/>
          </a:prstGeom>
          <a:noFill/>
          <a:ln w="6350">
            <a:solidFill>
              <a:srgbClr val="E8E8E8"/>
            </a:solidFill>
            <a:prstDash val="solid"/>
          </a:ln>
        </p:spPr>
      </p:sp>
      <p:sp>
        <p:nvSpPr>
          <p:cNvPr id="32" name="Text 30"/>
          <p:cNvSpPr/>
          <p:nvPr/>
        </p:nvSpPr>
        <p:spPr>
          <a:xfrm>
            <a:off x="731520" y="4572000"/>
            <a:ext cx="548640" cy="365760"/>
          </a:xfrm>
          <a:prstGeom prst="rect">
            <a:avLst/>
          </a:prstGeom>
          <a:noFill/>
          <a:ln/>
        </p:spPr>
        <p:txBody>
          <a:bodyPr wrap="square" rtlCol="0" anchor="ctr"/>
          <a:lstStyle/>
          <a:p>
            <a:pPr marL="0" indent="0">
              <a:buNone/>
            </a:pPr>
            <a:r>
              <a:rPr lang="en-US" sz="1600" b="1" dirty="0">
                <a:solidFill>
                  <a:srgbClr val="4DA8DA"/>
                </a:solidFill>
                <a:latin typeface="Georgia" pitchFamily="34" charset="0"/>
                <a:ea typeface="Georgia" pitchFamily="34" charset="-122"/>
                <a:cs typeface="Georgia" pitchFamily="34" charset="-120"/>
              </a:rPr>
              <a:t>08</a:t>
            </a:r>
            <a:endParaRPr lang="en-US" sz="1600" dirty="0"/>
          </a:p>
        </p:txBody>
      </p:sp>
      <p:sp>
        <p:nvSpPr>
          <p:cNvPr id="33" name="Text 31"/>
          <p:cNvSpPr/>
          <p:nvPr/>
        </p:nvSpPr>
        <p:spPr>
          <a:xfrm>
            <a:off x="1371600" y="4572000"/>
            <a:ext cx="3200400" cy="365760"/>
          </a:xfrm>
          <a:prstGeom prst="rect">
            <a:avLst/>
          </a:prstGeom>
          <a:noFill/>
          <a:ln/>
        </p:spPr>
        <p:txBody>
          <a:bodyPr wrap="square" rtlCol="0" anchor="ctr"/>
          <a:lstStyle/>
          <a:p>
            <a:pPr marL="0" indent="0">
              <a:buNone/>
            </a:pPr>
            <a:r>
              <a:rPr lang="en-US" sz="1400" b="1" dirty="0">
                <a:solidFill>
                  <a:srgbClr val="1B3A5C"/>
                </a:solidFill>
                <a:latin typeface="Arial" pitchFamily="34" charset="0"/>
                <a:ea typeface="Arial" pitchFamily="34" charset="-122"/>
                <a:cs typeface="Arial" pitchFamily="34" charset="-120"/>
              </a:rPr>
              <a:t>Recommendation</a:t>
            </a:r>
            <a:endParaRPr lang="en-US" sz="1400" dirty="0"/>
          </a:p>
        </p:txBody>
      </p:sp>
      <p:sp>
        <p:nvSpPr>
          <p:cNvPr id="34" name="Text 32"/>
          <p:cNvSpPr/>
          <p:nvPr/>
        </p:nvSpPr>
        <p:spPr>
          <a:xfrm>
            <a:off x="4754880" y="4572000"/>
            <a:ext cx="4114800" cy="365760"/>
          </a:xfrm>
          <a:prstGeom prst="rect">
            <a:avLst/>
          </a:prstGeom>
          <a:noFill/>
          <a:ln/>
        </p:spPr>
        <p:txBody>
          <a:bodyPr wrap="square" rtlCol="0" anchor="ctr"/>
          <a:lstStyle/>
          <a:p>
            <a:pPr marL="0" indent="0">
              <a:buNone/>
            </a:pPr>
            <a:r>
              <a:rPr lang="en-US" sz="1100" dirty="0">
                <a:solidFill>
                  <a:srgbClr val="7F8C8D"/>
                </a:solidFill>
                <a:latin typeface="Arial" pitchFamily="34" charset="0"/>
                <a:ea typeface="Arial" pitchFamily="34" charset="-122"/>
                <a:cs typeface="Arial" pitchFamily="34" charset="-120"/>
              </a:rPr>
              <a:t>Where to enter first and why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74320"/>
            <a:ext cx="8229600" cy="457200"/>
          </a:xfrm>
          <a:prstGeom prst="rect">
            <a:avLst/>
          </a:prstGeom>
          <a:noFill/>
          <a:ln/>
        </p:spPr>
        <p:txBody>
          <a:bodyPr wrap="square" lIns="0" tIns="0" rIns="0" bIns="0" rtlCol="0" anchor="ctr"/>
          <a:lstStyle/>
          <a:p>
            <a:pPr marL="0" indent="0">
              <a:buNone/>
            </a:pPr>
            <a:r>
              <a:rPr lang="en-US" sz="1100" b="1" kern="0" spc="300" dirty="0">
                <a:solidFill>
                  <a:srgbClr val="4DA8DA"/>
                </a:solidFill>
                <a:latin typeface="Arial" pitchFamily="34" charset="0"/>
                <a:ea typeface="Arial" pitchFamily="34" charset="-122"/>
                <a:cs typeface="Arial" pitchFamily="34" charset="-120"/>
              </a:rPr>
              <a:t>THE INFRASTRUCTURE GAP</a:t>
            </a:r>
            <a:endParaRPr lang="en-US" sz="1100" dirty="0"/>
          </a:p>
        </p:txBody>
      </p:sp>
      <p:sp>
        <p:nvSpPr>
          <p:cNvPr id="3" name="Text 1"/>
          <p:cNvSpPr/>
          <p:nvPr/>
        </p:nvSpPr>
        <p:spPr>
          <a:xfrm>
            <a:off x="731520" y="731520"/>
            <a:ext cx="7315200" cy="1097280"/>
          </a:xfrm>
          <a:prstGeom prst="rect">
            <a:avLst/>
          </a:prstGeom>
          <a:noFill/>
          <a:ln/>
        </p:spPr>
        <p:txBody>
          <a:bodyPr wrap="square" lIns="0" tIns="0" rIns="0" bIns="0" rtlCol="0" anchor="ctr"/>
          <a:lstStyle/>
          <a:p>
            <a:pPr marL="0" indent="0">
              <a:lnSpc>
                <a:spcPct val="120000"/>
              </a:lnSpc>
              <a:buNone/>
            </a:pPr>
            <a:r>
              <a:rPr lang="en-US" sz="3000" b="1" dirty="0">
                <a:solidFill>
                  <a:srgbClr val="1B3A5C"/>
                </a:solidFill>
                <a:latin typeface="Georgia" pitchFamily="34" charset="0"/>
                <a:ea typeface="Georgia" pitchFamily="34" charset="-122"/>
                <a:cs typeface="Georgia" pitchFamily="34" charset="-120"/>
              </a:rPr>
              <a:t>Houston has the demand.</a:t>
            </a:r>
            <a:endParaRPr lang="en-US" sz="3000" dirty="0"/>
          </a:p>
          <a:p>
            <a:pPr marL="0" indent="0">
              <a:lnSpc>
                <a:spcPct val="120000"/>
              </a:lnSpc>
              <a:buNone/>
            </a:pPr>
            <a:r>
              <a:rPr lang="en-US" sz="3000" b="1" dirty="0">
                <a:solidFill>
                  <a:srgbClr val="1B3A5C"/>
                </a:solidFill>
                <a:latin typeface="Georgia" pitchFamily="34" charset="0"/>
                <a:ea typeface="Georgia" pitchFamily="34" charset="-122"/>
                <a:cs typeface="Georgia" pitchFamily="34" charset="-120"/>
              </a:rPr>
              <a:t>It doesn't have the disposal.</a:t>
            </a:r>
            <a:endParaRPr lang="en-US" sz="3000" dirty="0"/>
          </a:p>
        </p:txBody>
      </p:sp>
      <p:sp>
        <p:nvSpPr>
          <p:cNvPr id="4" name="Shape 2"/>
          <p:cNvSpPr/>
          <p:nvPr/>
        </p:nvSpPr>
        <p:spPr>
          <a:xfrm>
            <a:off x="731520" y="2103120"/>
            <a:ext cx="2560320" cy="2011680"/>
          </a:xfrm>
          <a:prstGeom prst="rect">
            <a:avLst/>
          </a:prstGeom>
          <a:solidFill>
            <a:srgbClr val="F0F4F8"/>
          </a:solidFill>
          <a:ln/>
        </p:spPr>
      </p:sp>
      <p:sp>
        <p:nvSpPr>
          <p:cNvPr id="5" name="Text 3"/>
          <p:cNvSpPr/>
          <p:nvPr/>
        </p:nvSpPr>
        <p:spPr>
          <a:xfrm>
            <a:off x="731520" y="2286000"/>
            <a:ext cx="2560320" cy="914400"/>
          </a:xfrm>
          <a:prstGeom prst="rect">
            <a:avLst/>
          </a:prstGeom>
          <a:noFill/>
          <a:ln/>
        </p:spPr>
        <p:txBody>
          <a:bodyPr wrap="square" lIns="0" tIns="0" rIns="0" bIns="0" rtlCol="0" anchor="ctr"/>
          <a:lstStyle/>
          <a:p>
            <a:pPr marL="0" indent="0" algn="ctr">
              <a:buNone/>
            </a:pPr>
            <a:r>
              <a:rPr lang="en-US" sz="3600" b="1" dirty="0">
                <a:solidFill>
                  <a:srgbClr val="2C5F8A"/>
                </a:solidFill>
                <a:latin typeface="Georgia" pitchFamily="34" charset="0"/>
                <a:ea typeface="Georgia" pitchFamily="34" charset="-122"/>
                <a:cs typeface="Georgia" pitchFamily="34" charset="-120"/>
              </a:rPr>
              <a:t>14,532</a:t>
            </a:r>
            <a:endParaRPr lang="en-US" sz="3600" dirty="0"/>
          </a:p>
        </p:txBody>
      </p:sp>
      <p:sp>
        <p:nvSpPr>
          <p:cNvPr id="6" name="Text 4"/>
          <p:cNvSpPr/>
          <p:nvPr/>
        </p:nvSpPr>
        <p:spPr>
          <a:xfrm>
            <a:off x="731520" y="3200400"/>
            <a:ext cx="2560320" cy="731520"/>
          </a:xfrm>
          <a:prstGeom prst="rect">
            <a:avLst/>
          </a:prstGeom>
          <a:noFill/>
          <a:ln/>
        </p:spPr>
        <p:txBody>
          <a:bodyPr wrap="square" lIns="0" tIns="0" rIns="0" bIns="0" rtlCol="0" anchor="ctr"/>
          <a:lstStyle/>
          <a:p>
            <a:pPr marL="0" indent="0" algn="ctr">
              <a:lnSpc>
                <a:spcPct val="130000"/>
              </a:lnSpc>
              <a:buNone/>
            </a:pPr>
            <a:r>
              <a:rPr lang="en-US" sz="1200" dirty="0">
                <a:solidFill>
                  <a:srgbClr val="7F8C8D"/>
                </a:solidFill>
                <a:latin typeface="Arial" pitchFamily="34" charset="0"/>
                <a:ea typeface="Arial" pitchFamily="34" charset="-122"/>
                <a:cs typeface="Arial" pitchFamily="34" charset="-120"/>
              </a:rPr>
              <a:t>Food Service</a:t>
            </a:r>
            <a:endParaRPr lang="en-US" sz="1200" dirty="0"/>
          </a:p>
          <a:p>
            <a:pPr marL="0" indent="0" algn="ctr">
              <a:lnSpc>
                <a:spcPct val="130000"/>
              </a:lnSpc>
              <a:buNone/>
            </a:pPr>
            <a:r>
              <a:rPr lang="en-US" sz="1200" dirty="0">
                <a:solidFill>
                  <a:srgbClr val="7F8C8D"/>
                </a:solidFill>
                <a:latin typeface="Arial" pitchFamily="34" charset="0"/>
                <a:ea typeface="Arial" pitchFamily="34" charset="-122"/>
                <a:cs typeface="Arial" pitchFamily="34" charset="-120"/>
              </a:rPr>
              <a:t>Establishments</a:t>
            </a:r>
            <a:endParaRPr lang="en-US" sz="1200" dirty="0"/>
          </a:p>
        </p:txBody>
      </p:sp>
      <p:sp>
        <p:nvSpPr>
          <p:cNvPr id="7" name="Shape 5"/>
          <p:cNvSpPr/>
          <p:nvPr/>
        </p:nvSpPr>
        <p:spPr>
          <a:xfrm>
            <a:off x="3566160" y="2103120"/>
            <a:ext cx="2560320" cy="2011680"/>
          </a:xfrm>
          <a:prstGeom prst="rect">
            <a:avLst/>
          </a:prstGeom>
          <a:solidFill>
            <a:srgbClr val="F0F4F8"/>
          </a:solidFill>
          <a:ln/>
        </p:spPr>
      </p:sp>
      <p:sp>
        <p:nvSpPr>
          <p:cNvPr id="8" name="Text 6"/>
          <p:cNvSpPr/>
          <p:nvPr/>
        </p:nvSpPr>
        <p:spPr>
          <a:xfrm>
            <a:off x="3566160" y="2286000"/>
            <a:ext cx="2560320" cy="914400"/>
          </a:xfrm>
          <a:prstGeom prst="rect">
            <a:avLst/>
          </a:prstGeom>
          <a:noFill/>
          <a:ln/>
        </p:spPr>
        <p:txBody>
          <a:bodyPr wrap="square" lIns="0" tIns="0" rIns="0" bIns="0" rtlCol="0" anchor="ctr"/>
          <a:lstStyle/>
          <a:p>
            <a:pPr marL="0" indent="0" algn="ctr">
              <a:buNone/>
            </a:pPr>
            <a:r>
              <a:rPr lang="en-US" sz="3600" b="1" dirty="0">
                <a:solidFill>
                  <a:srgbClr val="C0392B"/>
                </a:solidFill>
                <a:latin typeface="Georgia" pitchFamily="34" charset="0"/>
                <a:ea typeface="Georgia" pitchFamily="34" charset="-122"/>
                <a:cs typeface="Georgia" pitchFamily="34" charset="-120"/>
              </a:rPr>
              <a:t>6 of 10</a:t>
            </a:r>
            <a:endParaRPr lang="en-US" sz="3600" dirty="0"/>
          </a:p>
        </p:txBody>
      </p:sp>
      <p:sp>
        <p:nvSpPr>
          <p:cNvPr id="9" name="Text 7"/>
          <p:cNvSpPr/>
          <p:nvPr/>
        </p:nvSpPr>
        <p:spPr>
          <a:xfrm>
            <a:off x="3904488" y="3200400"/>
            <a:ext cx="1883664" cy="731520"/>
          </a:xfrm>
          <a:prstGeom prst="rect">
            <a:avLst/>
          </a:prstGeom>
          <a:noFill/>
          <a:ln/>
        </p:spPr>
        <p:txBody>
          <a:bodyPr wrap="square" lIns="0" tIns="0" rIns="0" bIns="0" rtlCol="0" anchor="ctr"/>
          <a:lstStyle/>
          <a:p>
            <a:pPr marL="0" indent="0" algn="ctr">
              <a:lnSpc>
                <a:spcPct val="130000"/>
              </a:lnSpc>
              <a:buNone/>
            </a:pPr>
            <a:r>
              <a:rPr lang="en-IN" sz="1200" dirty="0">
                <a:solidFill>
                  <a:srgbClr val="7F8C8D"/>
                </a:solidFill>
                <a:latin typeface="Arial" pitchFamily="34" charset="0"/>
                <a:cs typeface="Arial" pitchFamily="34" charset="-120"/>
              </a:rPr>
              <a:t>Actively Operating GTW Facilities</a:t>
            </a:r>
            <a:endParaRPr lang="en-US" sz="1200" dirty="0">
              <a:solidFill>
                <a:srgbClr val="7F8C8D"/>
              </a:solidFill>
              <a:latin typeface="Arial" pitchFamily="34" charset="0"/>
              <a:cs typeface="Arial" pitchFamily="34" charset="-120"/>
            </a:endParaRPr>
          </a:p>
        </p:txBody>
      </p:sp>
      <p:sp>
        <p:nvSpPr>
          <p:cNvPr id="10" name="Shape 8"/>
          <p:cNvSpPr/>
          <p:nvPr/>
        </p:nvSpPr>
        <p:spPr>
          <a:xfrm>
            <a:off x="6400800" y="2103120"/>
            <a:ext cx="2560320" cy="2011680"/>
          </a:xfrm>
          <a:prstGeom prst="rect">
            <a:avLst/>
          </a:prstGeom>
          <a:solidFill>
            <a:srgbClr val="F0F4F8"/>
          </a:solidFill>
          <a:ln/>
        </p:spPr>
      </p:sp>
      <p:sp>
        <p:nvSpPr>
          <p:cNvPr id="11" name="Text 9"/>
          <p:cNvSpPr/>
          <p:nvPr/>
        </p:nvSpPr>
        <p:spPr>
          <a:xfrm>
            <a:off x="6400800" y="2286000"/>
            <a:ext cx="2560320" cy="914400"/>
          </a:xfrm>
          <a:prstGeom prst="rect">
            <a:avLst/>
          </a:prstGeom>
          <a:noFill/>
          <a:ln/>
        </p:spPr>
        <p:txBody>
          <a:bodyPr wrap="square" lIns="0" tIns="0" rIns="0" bIns="0" rtlCol="0" anchor="ctr"/>
          <a:lstStyle/>
          <a:p>
            <a:pPr marL="0" indent="0" algn="ctr">
              <a:buNone/>
            </a:pPr>
            <a:r>
              <a:rPr lang="en-US" sz="3600" b="1" dirty="0">
                <a:solidFill>
                  <a:srgbClr val="C0392B"/>
                </a:solidFill>
                <a:latin typeface="Georgia" pitchFamily="34" charset="0"/>
                <a:ea typeface="Georgia" pitchFamily="34" charset="-122"/>
                <a:cs typeface="Georgia" pitchFamily="34" charset="-120"/>
              </a:rPr>
              <a:t>8 of 9</a:t>
            </a:r>
            <a:endParaRPr lang="en-US" sz="3600" dirty="0"/>
          </a:p>
        </p:txBody>
      </p:sp>
      <p:sp>
        <p:nvSpPr>
          <p:cNvPr id="12" name="Text 10"/>
          <p:cNvSpPr/>
          <p:nvPr/>
        </p:nvSpPr>
        <p:spPr>
          <a:xfrm>
            <a:off x="6400800" y="3200400"/>
            <a:ext cx="2560320" cy="731520"/>
          </a:xfrm>
          <a:prstGeom prst="rect">
            <a:avLst/>
          </a:prstGeom>
          <a:noFill/>
          <a:ln/>
        </p:spPr>
        <p:txBody>
          <a:bodyPr wrap="square" lIns="0" tIns="0" rIns="0" bIns="0" rtlCol="0" anchor="ctr"/>
          <a:lstStyle/>
          <a:p>
            <a:pPr marL="0" indent="0" algn="ctr">
              <a:lnSpc>
                <a:spcPct val="130000"/>
              </a:lnSpc>
              <a:buNone/>
            </a:pPr>
            <a:r>
              <a:rPr lang="en-US" sz="1200" dirty="0">
                <a:solidFill>
                  <a:srgbClr val="7F8C8D"/>
                </a:solidFill>
                <a:latin typeface="Arial" pitchFamily="34" charset="0"/>
                <a:ea typeface="Arial" pitchFamily="34" charset="-122"/>
                <a:cs typeface="Arial" pitchFamily="34" charset="-120"/>
              </a:rPr>
              <a:t>Counties with</a:t>
            </a:r>
            <a:endParaRPr lang="en-US" sz="1200" dirty="0"/>
          </a:p>
          <a:p>
            <a:pPr marL="0" indent="0" algn="ctr">
              <a:lnSpc>
                <a:spcPct val="130000"/>
              </a:lnSpc>
              <a:buNone/>
            </a:pPr>
            <a:r>
              <a:rPr lang="en-US" sz="1200" dirty="0">
                <a:solidFill>
                  <a:srgbClr val="7F8C8D"/>
                </a:solidFill>
                <a:latin typeface="Arial" pitchFamily="34" charset="0"/>
                <a:ea typeface="Arial" pitchFamily="34" charset="-122"/>
                <a:cs typeface="Arial" pitchFamily="34" charset="-120"/>
              </a:rPr>
              <a:t>ZERO Facilities</a:t>
            </a:r>
            <a:endParaRPr lang="en-US" sz="1200" dirty="0"/>
          </a:p>
        </p:txBody>
      </p:sp>
      <p:sp>
        <p:nvSpPr>
          <p:cNvPr id="13" name="Text 11"/>
          <p:cNvSpPr/>
          <p:nvPr/>
        </p:nvSpPr>
        <p:spPr>
          <a:xfrm>
            <a:off x="731520" y="4297680"/>
            <a:ext cx="7680960" cy="457200"/>
          </a:xfrm>
          <a:prstGeom prst="rect">
            <a:avLst/>
          </a:prstGeom>
          <a:noFill/>
          <a:ln/>
        </p:spPr>
        <p:txBody>
          <a:bodyPr wrap="square" lIns="0" tIns="0" rIns="0" bIns="0" rtlCol="0" anchor="ctr"/>
          <a:lstStyle/>
          <a:p>
            <a:r>
              <a:rPr lang="en-US" sz="1100" i="1" dirty="0">
                <a:solidFill>
                  <a:srgbClr val="7F8C8D"/>
                </a:solidFill>
                <a:latin typeface="Arial" pitchFamily="34" charset="0"/>
                <a:cs typeface="Arial" pitchFamily="34" charset="-120"/>
              </a:rPr>
              <a:t>9 of 10 registered 5GG facilities are in Harris County, 1 is pending in Austin County. Only 6 are actively operating. 8 counties with 4,494 establishments have no disposal infrastructure.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74320"/>
            <a:ext cx="8229600" cy="365760"/>
          </a:xfrm>
          <a:prstGeom prst="rect">
            <a:avLst/>
          </a:prstGeom>
          <a:noFill/>
          <a:ln/>
        </p:spPr>
        <p:txBody>
          <a:bodyPr wrap="square" lIns="0" tIns="0" rIns="0" bIns="0" rtlCol="0" anchor="ctr"/>
          <a:lstStyle/>
          <a:p>
            <a:pPr marL="0" indent="0">
              <a:buNone/>
            </a:pPr>
            <a:r>
              <a:rPr lang="en-US" sz="1100" b="1" kern="0" spc="300" dirty="0">
                <a:solidFill>
                  <a:srgbClr val="4DA8DA"/>
                </a:solidFill>
                <a:latin typeface="Arial" pitchFamily="34" charset="0"/>
                <a:ea typeface="Arial" pitchFamily="34" charset="-122"/>
                <a:cs typeface="Arial" pitchFamily="34" charset="-120"/>
              </a:rPr>
              <a:t>DEMAND ANALYSIS</a:t>
            </a:r>
            <a:endParaRPr lang="en-US" sz="1100" dirty="0"/>
          </a:p>
        </p:txBody>
      </p:sp>
      <p:sp>
        <p:nvSpPr>
          <p:cNvPr id="3" name="Text 1"/>
          <p:cNvSpPr/>
          <p:nvPr/>
        </p:nvSpPr>
        <p:spPr>
          <a:xfrm>
            <a:off x="731520" y="640080"/>
            <a:ext cx="7315200" cy="548640"/>
          </a:xfrm>
          <a:prstGeom prst="rect">
            <a:avLst/>
          </a:prstGeom>
          <a:noFill/>
          <a:ln/>
        </p:spPr>
        <p:txBody>
          <a:bodyPr wrap="square" lIns="0" tIns="0" rIns="0" bIns="0" rtlCol="0" anchor="ctr"/>
          <a:lstStyle/>
          <a:p>
            <a:pPr marL="0" indent="0">
              <a:buNone/>
            </a:pPr>
            <a:r>
              <a:rPr lang="en-US" sz="2400" b="1" dirty="0">
                <a:solidFill>
                  <a:srgbClr val="1B3A5C"/>
                </a:solidFill>
                <a:latin typeface="Georgia" pitchFamily="34" charset="0"/>
                <a:ea typeface="Georgia" pitchFamily="34" charset="-122"/>
                <a:cs typeface="Georgia" pitchFamily="34" charset="-120"/>
              </a:rPr>
              <a:t>Restaurant density is concentrated but disposal is not</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31520" y="1371600"/>
          <a:ext cx="7680960" cy="2788920"/>
        </p:xfrm>
        <a:graphic>
          <a:graphicData uri="http://schemas.openxmlformats.org/drawingml/2006/table">
            <a:tbl>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20040">
                <a:tc>
                  <a:txBody>
                    <a:bodyPr/>
                    <a:lstStyle/>
                    <a:p>
                      <a:pPr marL="0" indent="0">
                        <a:buNone/>
                      </a:pPr>
                      <a:r>
                        <a:rPr lang="en-US" sz="1000" b="1" dirty="0">
                          <a:solidFill>
                            <a:srgbClr val="FFFFFF"/>
                          </a:solidFill>
                          <a:latin typeface="Arial" pitchFamily="34" charset="0"/>
                          <a:ea typeface="Arial" pitchFamily="34" charset="-122"/>
                          <a:cs typeface="Arial" pitchFamily="34" charset="-120"/>
                        </a:rPr>
                        <a:t>County</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B3A5C"/>
                    </a:solidFill>
                  </a:tcPr>
                </a:tc>
                <a:tc>
                  <a:txBody>
                    <a:bodyPr/>
                    <a:lstStyle/>
                    <a:p>
                      <a:pPr marL="0" indent="0" algn="r">
                        <a:buNone/>
                      </a:pPr>
                      <a:r>
                        <a:rPr lang="en-US" sz="1000" b="1" dirty="0">
                          <a:solidFill>
                            <a:srgbClr val="FFFFFF"/>
                          </a:solidFill>
                          <a:latin typeface="Arial" pitchFamily="34" charset="0"/>
                          <a:ea typeface="Arial" pitchFamily="34" charset="-122"/>
                          <a:cs typeface="Arial" pitchFamily="34" charset="-120"/>
                        </a:rPr>
                        <a:t>Establishments</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B3A5C"/>
                    </a:solidFill>
                  </a:tcPr>
                </a:tc>
                <a:tc>
                  <a:txBody>
                    <a:bodyPr/>
                    <a:lstStyle/>
                    <a:p>
                      <a:pPr marL="0" indent="0" algn="r">
                        <a:buNone/>
                      </a:pPr>
                      <a:r>
                        <a:rPr lang="en-US" sz="1000" b="1" dirty="0">
                          <a:solidFill>
                            <a:srgbClr val="FFFFFF"/>
                          </a:solidFill>
                          <a:latin typeface="Arial" pitchFamily="34" charset="0"/>
                          <a:ea typeface="Arial" pitchFamily="34" charset="-122"/>
                          <a:cs typeface="Arial" pitchFamily="34" charset="-120"/>
                        </a:rPr>
                        <a:t>% MSA</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B3A5C"/>
                    </a:solidFill>
                  </a:tcPr>
                </a:tc>
                <a:tc>
                  <a:txBody>
                    <a:bodyPr/>
                    <a:lstStyle/>
                    <a:p>
                      <a:pPr marL="0" indent="0" algn="r">
                        <a:buNone/>
                      </a:pPr>
                      <a:r>
                        <a:rPr lang="en-US" sz="1000" b="1" dirty="0">
                          <a:solidFill>
                            <a:srgbClr val="FFFFFF"/>
                          </a:solidFill>
                          <a:latin typeface="Arial" pitchFamily="34" charset="0"/>
                          <a:ea typeface="Arial" pitchFamily="34" charset="-122"/>
                          <a:cs typeface="Arial" pitchFamily="34" charset="-120"/>
                        </a:rPr>
                        <a:t>5GG Facilities</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B3A5C"/>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Gap</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274320">
                <a:tc>
                  <a:txBody>
                    <a:bodyPr/>
                    <a:lstStyle/>
                    <a:p>
                      <a:pPr marL="0" indent="0">
                        <a:buNone/>
                      </a:pPr>
                      <a:r>
                        <a:rPr lang="en-US" sz="1000" dirty="0">
                          <a:solidFill>
                            <a:srgbClr val="000000"/>
                          </a:solidFill>
                          <a:latin typeface="Arial" pitchFamily="34" charset="0"/>
                          <a:ea typeface="Arial" pitchFamily="34" charset="-122"/>
                          <a:cs typeface="Arial" pitchFamily="34" charset="-120"/>
                        </a:rPr>
                        <a:t>Harris</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10,038</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69.1%</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9</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1000" b="1" dirty="0">
                          <a:solidFill>
                            <a:srgbClr val="E67E22"/>
                          </a:solidFill>
                          <a:latin typeface="Arial" pitchFamily="34" charset="0"/>
                          <a:ea typeface="Arial" pitchFamily="34" charset="-122"/>
                          <a:cs typeface="Arial" pitchFamily="34" charset="-120"/>
                        </a:rPr>
                        <a:t>Overloaded</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buNone/>
                      </a:pPr>
                      <a:r>
                        <a:rPr lang="en-US" sz="1000" dirty="0">
                          <a:solidFill>
                            <a:srgbClr val="000000"/>
                          </a:solidFill>
                          <a:latin typeface="Arial" pitchFamily="34" charset="0"/>
                          <a:ea typeface="Arial" pitchFamily="34" charset="-122"/>
                          <a:cs typeface="Arial" pitchFamily="34" charset="-120"/>
                        </a:rPr>
                        <a:t>Fort Bend</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1,522</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10.5%</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1000" b="1" dirty="0">
                          <a:solidFill>
                            <a:srgbClr val="C0392B"/>
                          </a:solidFill>
                          <a:latin typeface="Arial" pitchFamily="34" charset="0"/>
                          <a:ea typeface="Arial" pitchFamily="34" charset="-122"/>
                          <a:cs typeface="Arial" pitchFamily="34" charset="-120"/>
                        </a:rPr>
                        <a:t>UNSERVED</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buNone/>
                      </a:pPr>
                      <a:r>
                        <a:rPr lang="en-US" sz="1000" dirty="0">
                          <a:solidFill>
                            <a:srgbClr val="000000"/>
                          </a:solidFill>
                          <a:latin typeface="Arial" pitchFamily="34" charset="0"/>
                          <a:ea typeface="Arial" pitchFamily="34" charset="-122"/>
                          <a:cs typeface="Arial" pitchFamily="34" charset="-120"/>
                        </a:rPr>
                        <a:t>Montgomery</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1,199</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8.2%</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1000" b="1" dirty="0">
                          <a:solidFill>
                            <a:srgbClr val="C0392B"/>
                          </a:solidFill>
                          <a:latin typeface="Arial" pitchFamily="34" charset="0"/>
                          <a:ea typeface="Arial" pitchFamily="34" charset="-122"/>
                          <a:cs typeface="Arial" pitchFamily="34" charset="-120"/>
                        </a:rPr>
                        <a:t>UNSERVED</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buNone/>
                      </a:pPr>
                      <a:r>
                        <a:rPr lang="en-US" sz="1000" dirty="0">
                          <a:solidFill>
                            <a:srgbClr val="000000"/>
                          </a:solidFill>
                          <a:latin typeface="Arial" pitchFamily="34" charset="0"/>
                          <a:ea typeface="Arial" pitchFamily="34" charset="-122"/>
                          <a:cs typeface="Arial" pitchFamily="34" charset="-120"/>
                        </a:rPr>
                        <a:t>Galveston</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780</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5.4%</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1000" b="1" dirty="0">
                          <a:solidFill>
                            <a:srgbClr val="C0392B"/>
                          </a:solidFill>
                          <a:latin typeface="Arial" pitchFamily="34" charset="0"/>
                          <a:ea typeface="Arial" pitchFamily="34" charset="-122"/>
                          <a:cs typeface="Arial" pitchFamily="34" charset="-120"/>
                        </a:rPr>
                        <a:t>UNSERVED</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indent="0">
                        <a:buNone/>
                      </a:pPr>
                      <a:r>
                        <a:rPr lang="en-US" sz="1000" dirty="0">
                          <a:solidFill>
                            <a:srgbClr val="000000"/>
                          </a:solidFill>
                          <a:latin typeface="Arial" pitchFamily="34" charset="0"/>
                          <a:ea typeface="Arial" pitchFamily="34" charset="-122"/>
                          <a:cs typeface="Arial" pitchFamily="34" charset="-120"/>
                        </a:rPr>
                        <a:t>Brazoria</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689</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4.7%</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1000" b="1" dirty="0">
                          <a:solidFill>
                            <a:srgbClr val="C0392B"/>
                          </a:solidFill>
                          <a:latin typeface="Arial" pitchFamily="34" charset="0"/>
                          <a:ea typeface="Arial" pitchFamily="34" charset="-122"/>
                          <a:cs typeface="Arial" pitchFamily="34" charset="-120"/>
                        </a:rPr>
                        <a:t>UNSERVED</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5"/>
                  </a:ext>
                </a:extLst>
              </a:tr>
              <a:tr h="274320">
                <a:tc>
                  <a:txBody>
                    <a:bodyPr/>
                    <a:lstStyle/>
                    <a:p>
                      <a:pPr marL="0" indent="0">
                        <a:buNone/>
                      </a:pPr>
                      <a:r>
                        <a:rPr lang="en-US" sz="1000" dirty="0">
                          <a:solidFill>
                            <a:srgbClr val="000000"/>
                          </a:solidFill>
                          <a:latin typeface="Arial" pitchFamily="34" charset="0"/>
                          <a:ea typeface="Arial" pitchFamily="34" charset="-122"/>
                          <a:cs typeface="Arial" pitchFamily="34" charset="-120"/>
                        </a:rPr>
                        <a:t>Chambers</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80</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0.6%</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1000" b="1" dirty="0">
                          <a:solidFill>
                            <a:srgbClr val="C0392B"/>
                          </a:solidFill>
                          <a:latin typeface="Arial" pitchFamily="34" charset="0"/>
                          <a:ea typeface="Arial" pitchFamily="34" charset="-122"/>
                          <a:cs typeface="Arial" pitchFamily="34" charset="-120"/>
                        </a:rPr>
                        <a:t>UNSERVED</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6"/>
                  </a:ext>
                </a:extLst>
              </a:tr>
              <a:tr h="274320">
                <a:tc>
                  <a:txBody>
                    <a:bodyPr/>
                    <a:lstStyle/>
                    <a:p>
                      <a:pPr marL="0" indent="0">
                        <a:buNone/>
                      </a:pPr>
                      <a:r>
                        <a:rPr lang="en-US" sz="1000" dirty="0">
                          <a:solidFill>
                            <a:srgbClr val="000000"/>
                          </a:solidFill>
                          <a:latin typeface="Arial" pitchFamily="34" charset="0"/>
                          <a:ea typeface="Arial" pitchFamily="34" charset="-122"/>
                          <a:cs typeface="Arial" pitchFamily="34" charset="-120"/>
                        </a:rPr>
                        <a:t>Liberty</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102</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0.7%</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1000" b="1" dirty="0">
                          <a:solidFill>
                            <a:srgbClr val="C0392B"/>
                          </a:solidFill>
                          <a:latin typeface="Arial" pitchFamily="34" charset="0"/>
                          <a:ea typeface="Arial" pitchFamily="34" charset="-122"/>
                          <a:cs typeface="Arial" pitchFamily="34" charset="-120"/>
                        </a:rPr>
                        <a:t>UNSERVED</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7"/>
                  </a:ext>
                </a:extLst>
              </a:tr>
              <a:tr h="274320">
                <a:tc>
                  <a:txBody>
                    <a:bodyPr/>
                    <a:lstStyle/>
                    <a:p>
                      <a:pPr marL="0" indent="0">
                        <a:buNone/>
                      </a:pPr>
                      <a:r>
                        <a:rPr lang="en-US" sz="1000" dirty="0">
                          <a:solidFill>
                            <a:srgbClr val="000000"/>
                          </a:solidFill>
                          <a:latin typeface="Arial" pitchFamily="34" charset="0"/>
                          <a:ea typeface="Arial" pitchFamily="34" charset="-122"/>
                          <a:cs typeface="Arial" pitchFamily="34" charset="-120"/>
                        </a:rPr>
                        <a:t>Waller</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65</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0.4%</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1000" b="1" dirty="0">
                          <a:solidFill>
                            <a:srgbClr val="C0392B"/>
                          </a:solidFill>
                          <a:latin typeface="Arial" pitchFamily="34" charset="0"/>
                          <a:ea typeface="Arial" pitchFamily="34" charset="-122"/>
                          <a:cs typeface="Arial" pitchFamily="34" charset="-120"/>
                        </a:rPr>
                        <a:t>UNSERVED</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8"/>
                  </a:ext>
                </a:extLst>
              </a:tr>
              <a:tr h="274320">
                <a:tc>
                  <a:txBody>
                    <a:bodyPr/>
                    <a:lstStyle/>
                    <a:p>
                      <a:pPr marL="0" indent="0">
                        <a:buNone/>
                      </a:pPr>
                      <a:r>
                        <a:rPr lang="en-US" sz="1000" dirty="0">
                          <a:solidFill>
                            <a:srgbClr val="000000"/>
                          </a:solidFill>
                          <a:latin typeface="Arial" pitchFamily="34" charset="0"/>
                          <a:ea typeface="Arial" pitchFamily="34" charset="-122"/>
                          <a:cs typeface="Arial" pitchFamily="34" charset="-120"/>
                        </a:rPr>
                        <a:t>Austin</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57</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0.4%</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1 (pending)</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1000" b="1" dirty="0">
                          <a:solidFill>
                            <a:srgbClr val="7F8C8D"/>
                          </a:solidFill>
                          <a:latin typeface="Arial" pitchFamily="34" charset="0"/>
                          <a:ea typeface="Arial" pitchFamily="34" charset="-122"/>
                          <a:cs typeface="Arial" pitchFamily="34" charset="-120"/>
                        </a:rPr>
                        <a:t>Pending</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5" name="Text 2"/>
          <p:cNvSpPr/>
          <p:nvPr/>
        </p:nvSpPr>
        <p:spPr>
          <a:xfrm>
            <a:off x="731520" y="4480560"/>
            <a:ext cx="7315200" cy="365760"/>
          </a:xfrm>
          <a:prstGeom prst="rect">
            <a:avLst/>
          </a:prstGeom>
          <a:noFill/>
          <a:ln/>
        </p:spPr>
        <p:txBody>
          <a:bodyPr wrap="square" lIns="0" tIns="0" rIns="0" bIns="0" rtlCol="0" anchor="ctr"/>
          <a:lstStyle/>
          <a:p>
            <a:pPr marL="0" indent="0">
              <a:buNone/>
            </a:pPr>
            <a:r>
              <a:rPr lang="en-US" sz="900" i="1" dirty="0">
                <a:solidFill>
                  <a:srgbClr val="7F8C8D"/>
                </a:solidFill>
                <a:latin typeface="Arial" pitchFamily="34" charset="0"/>
                <a:ea typeface="Arial" pitchFamily="34" charset="-122"/>
                <a:cs typeface="Arial" pitchFamily="34" charset="-120"/>
              </a:rPr>
              <a:t>Source: U.S. Census Bureau, County Business Patterns 2023 (NAICS 722). TCEQ MSW Facility Registry.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74320"/>
            <a:ext cx="8229600" cy="365760"/>
          </a:xfrm>
          <a:prstGeom prst="rect">
            <a:avLst/>
          </a:prstGeom>
          <a:noFill/>
          <a:ln/>
        </p:spPr>
        <p:txBody>
          <a:bodyPr wrap="square" lIns="0" tIns="0" rIns="0" bIns="0" rtlCol="0" anchor="ctr"/>
          <a:lstStyle/>
          <a:p>
            <a:pPr marL="0" indent="0">
              <a:buNone/>
            </a:pPr>
            <a:r>
              <a:rPr lang="en-US" sz="1100" b="1" kern="0" spc="300" dirty="0">
                <a:solidFill>
                  <a:srgbClr val="4DA8DA"/>
                </a:solidFill>
                <a:latin typeface="Arial" pitchFamily="34" charset="0"/>
                <a:ea typeface="Arial" pitchFamily="34" charset="-122"/>
                <a:cs typeface="Arial" pitchFamily="34" charset="-120"/>
              </a:rPr>
              <a:t>RESTAURANT DENSITY MAP</a:t>
            </a:r>
            <a:endParaRPr lang="en-US" sz="1100" dirty="0"/>
          </a:p>
        </p:txBody>
      </p:sp>
      <p:sp>
        <p:nvSpPr>
          <p:cNvPr id="3" name="Text 1"/>
          <p:cNvSpPr/>
          <p:nvPr/>
        </p:nvSpPr>
        <p:spPr>
          <a:xfrm>
            <a:off x="731520" y="640080"/>
            <a:ext cx="7315200" cy="548640"/>
          </a:xfrm>
          <a:prstGeom prst="rect">
            <a:avLst/>
          </a:prstGeom>
          <a:noFill/>
          <a:ln/>
        </p:spPr>
        <p:txBody>
          <a:bodyPr wrap="square" lIns="0" tIns="0" rIns="0" bIns="0" rtlCol="0" anchor="ctr"/>
          <a:lstStyle/>
          <a:p>
            <a:pPr marL="0" indent="0">
              <a:buNone/>
            </a:pPr>
            <a:r>
              <a:rPr lang="en-US" sz="2400" b="1" dirty="0">
                <a:solidFill>
                  <a:srgbClr val="1B3A5C"/>
                </a:solidFill>
                <a:latin typeface="Georgia" pitchFamily="34" charset="0"/>
                <a:ea typeface="Georgia" pitchFamily="34" charset="-122"/>
                <a:cs typeface="Georgia" pitchFamily="34" charset="-120"/>
              </a:rPr>
              <a:t>Demand is distributed. Disposal infrastructure is not.</a:t>
            </a:r>
            <a:endParaRPr lang="en-US" sz="2400" dirty="0"/>
          </a:p>
        </p:txBody>
      </p:sp>
      <p:sp>
        <p:nvSpPr>
          <p:cNvPr id="4" name="Text 2"/>
          <p:cNvSpPr/>
          <p:nvPr/>
        </p:nvSpPr>
        <p:spPr>
          <a:xfrm>
            <a:off x="731520" y="1371600"/>
            <a:ext cx="7680960" cy="3200400"/>
          </a:xfrm>
          <a:prstGeom prst="rect">
            <a:avLst/>
          </a:prstGeom>
          <a:solidFill>
            <a:srgbClr val="F0F4F8"/>
          </a:solidFill>
          <a:ln/>
        </p:spPr>
        <p:txBody>
          <a:bodyPr wrap="square" rtlCol="0" anchor="ctr"/>
          <a:lstStyle/>
          <a:p>
            <a:pPr marL="0" indent="0" algn="ctr">
              <a:buNone/>
            </a:pPr>
            <a:r>
              <a:rPr lang="en-US" sz="1400" b="1" dirty="0">
                <a:solidFill>
                  <a:srgbClr val="C0392B"/>
                </a:solidFill>
              </a:rPr>
              <a:t>
</a:t>
            </a:r>
            <a:endParaRPr lang="en-US" sz="1400" dirty="0"/>
          </a:p>
        </p:txBody>
      </p:sp>
      <p:sp>
        <p:nvSpPr>
          <p:cNvPr id="5" name="Text 3"/>
          <p:cNvSpPr/>
          <p:nvPr/>
        </p:nvSpPr>
        <p:spPr>
          <a:xfrm>
            <a:off x="731520" y="4663440"/>
            <a:ext cx="7315200" cy="274320"/>
          </a:xfrm>
          <a:prstGeom prst="rect">
            <a:avLst/>
          </a:prstGeom>
          <a:noFill/>
          <a:ln/>
        </p:spPr>
        <p:txBody>
          <a:bodyPr wrap="square" lIns="0" tIns="0" rIns="0" bIns="0" rtlCol="0" anchor="ctr"/>
          <a:lstStyle/>
          <a:p>
            <a:pPr marL="0" indent="0">
              <a:buNone/>
            </a:pPr>
            <a:r>
              <a:rPr lang="en-US" sz="900" i="1" dirty="0">
                <a:solidFill>
                  <a:srgbClr val="7F8C8D"/>
                </a:solidFill>
                <a:latin typeface="Arial" pitchFamily="34" charset="0"/>
                <a:ea typeface="Arial" pitchFamily="34" charset="-122"/>
                <a:cs typeface="Arial" pitchFamily="34" charset="-120"/>
              </a:rPr>
              <a:t xml:space="preserve">Interactive map: </a:t>
            </a:r>
            <a:r>
              <a:rPr lang="en-US" sz="900" i="1" dirty="0">
                <a:solidFill>
                  <a:srgbClr val="7F8C8D"/>
                </a:solidFill>
                <a:latin typeface="Arial" pitchFamily="34" charset="0"/>
                <a:ea typeface="Arial" pitchFamily="34" charset="-122"/>
                <a:cs typeface="Arial" pitchFamily="34" charset="-120"/>
                <a:hlinkClick r:id="rId3" action="ppaction://hlinkfile"/>
              </a:rPr>
              <a:t>Houston_Market_Map.html</a:t>
            </a:r>
            <a:r>
              <a:rPr lang="en-US" sz="900" i="1" dirty="0">
                <a:solidFill>
                  <a:srgbClr val="7F8C8D"/>
                </a:solidFill>
                <a:latin typeface="Arial" pitchFamily="34" charset="0"/>
                <a:ea typeface="Arial" pitchFamily="34" charset="-122"/>
                <a:cs typeface="Arial" pitchFamily="34" charset="-120"/>
              </a:rPr>
              <a:t>| 4,502 geocoded locations | 16 competitor facilities</a:t>
            </a:r>
            <a:endParaRPr lang="en-US" sz="900" dirty="0"/>
          </a:p>
        </p:txBody>
      </p:sp>
      <p:pic>
        <p:nvPicPr>
          <p:cNvPr id="6" name="Picture 5">
            <a:extLst>
              <a:ext uri="{FF2B5EF4-FFF2-40B4-BE49-F238E27FC236}">
                <a16:creationId xmlns:a16="http://schemas.microsoft.com/office/drawing/2014/main" id="{6BDAD787-59CC-19B4-C195-35927FF56204}"/>
              </a:ext>
            </a:extLst>
          </p:cNvPr>
          <p:cNvPicPr>
            <a:picLocks noChangeAspect="1"/>
          </p:cNvPicPr>
          <p:nvPr/>
        </p:nvPicPr>
        <p:blipFill rotWithShape="1">
          <a:blip r:embed="rId4"/>
          <a:srcRect l="-82" t="10970"/>
          <a:stretch>
            <a:fillRect/>
          </a:stretch>
        </p:blipFill>
        <p:spPr bwMode="auto">
          <a:xfrm>
            <a:off x="1597977" y="1483677"/>
            <a:ext cx="5948045" cy="2976245"/>
          </a:xfrm>
          <a:prstGeom prst="rect">
            <a:avLst/>
          </a:prstGeom>
          <a:ln>
            <a:solidFill>
              <a:schemeClr val="tx2">
                <a:lumMod val="75000"/>
              </a:schemeClr>
            </a:solidFill>
          </a:ln>
          <a:extLst>
            <a:ext uri="{53640926-AAD7-44D8-BBD7-CCE9431645EC}">
              <a14:shadowObscured xmlns:a14="http://schemas.microsoft.com/office/drawing/2010/main"/>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74320"/>
            <a:ext cx="8229600" cy="365760"/>
          </a:xfrm>
          <a:prstGeom prst="rect">
            <a:avLst/>
          </a:prstGeom>
          <a:noFill/>
          <a:ln/>
        </p:spPr>
        <p:txBody>
          <a:bodyPr wrap="square" lIns="0" tIns="0" rIns="0" bIns="0" rtlCol="0" anchor="ctr"/>
          <a:lstStyle/>
          <a:p>
            <a:pPr marL="0" indent="0">
              <a:buNone/>
            </a:pPr>
            <a:r>
              <a:rPr lang="en-US" sz="1100" b="1" kern="0" spc="300" dirty="0">
                <a:solidFill>
                  <a:srgbClr val="4DA8DA"/>
                </a:solidFill>
                <a:latin typeface="Arial" pitchFamily="34" charset="0"/>
                <a:ea typeface="Arial" pitchFamily="34" charset="-122"/>
                <a:cs typeface="Arial" pitchFamily="34" charset="-120"/>
              </a:rPr>
              <a:t>COMPETITIVE LANDSCAPE</a:t>
            </a:r>
            <a:endParaRPr lang="en-US" sz="1100" dirty="0"/>
          </a:p>
        </p:txBody>
      </p:sp>
      <p:sp>
        <p:nvSpPr>
          <p:cNvPr id="3" name="Text 1"/>
          <p:cNvSpPr/>
          <p:nvPr/>
        </p:nvSpPr>
        <p:spPr>
          <a:xfrm>
            <a:off x="731520" y="640080"/>
            <a:ext cx="7315200" cy="548640"/>
          </a:xfrm>
          <a:prstGeom prst="rect">
            <a:avLst/>
          </a:prstGeom>
          <a:noFill/>
          <a:ln/>
        </p:spPr>
        <p:txBody>
          <a:bodyPr wrap="square" lIns="0" tIns="0" rIns="0" bIns="0" rtlCol="0" anchor="ctr"/>
          <a:lstStyle/>
          <a:p>
            <a:pPr marL="0" indent="0">
              <a:buNone/>
            </a:pPr>
            <a:r>
              <a:rPr lang="en-US" sz="2400" b="1" dirty="0">
                <a:solidFill>
                  <a:srgbClr val="1B3A5C"/>
                </a:solidFill>
                <a:latin typeface="Georgia" pitchFamily="34" charset="0"/>
                <a:ea typeface="Georgia" pitchFamily="34" charset="-122"/>
                <a:cs typeface="Georgia" pitchFamily="34" charset="-120"/>
              </a:rPr>
              <a:t>One county. All facilities. 1,004 restaurants per facility.</a:t>
            </a:r>
            <a:endParaRPr lang="en-US" sz="2400" dirty="0"/>
          </a:p>
        </p:txBody>
      </p:sp>
      <p:sp>
        <p:nvSpPr>
          <p:cNvPr id="4" name="Text 2"/>
          <p:cNvSpPr/>
          <p:nvPr/>
        </p:nvSpPr>
        <p:spPr>
          <a:xfrm>
            <a:off x="731520" y="1371600"/>
            <a:ext cx="4114800" cy="365760"/>
          </a:xfrm>
          <a:prstGeom prst="rect">
            <a:avLst/>
          </a:prstGeom>
          <a:noFill/>
          <a:ln/>
        </p:spPr>
        <p:txBody>
          <a:bodyPr wrap="square" lIns="0" tIns="0" rIns="0" bIns="0" rtlCol="0" anchor="ctr"/>
          <a:lstStyle/>
          <a:p>
            <a:pPr marL="0" indent="0">
              <a:buNone/>
            </a:pPr>
            <a:r>
              <a:rPr lang="en-US" sz="1300" b="1" dirty="0">
                <a:solidFill>
                  <a:srgbClr val="2C5F8A"/>
                </a:solidFill>
                <a:latin typeface="Arial" pitchFamily="34" charset="0"/>
                <a:ea typeface="Arial" pitchFamily="34" charset="-122"/>
                <a:cs typeface="Arial" pitchFamily="34" charset="-120"/>
              </a:rPr>
              <a:t>Top 5GG Facilities (Harris County Only)</a:t>
            </a:r>
            <a:endParaRPr lang="en-US" sz="1300" dirty="0"/>
          </a:p>
        </p:txBody>
      </p:sp>
      <p:sp>
        <p:nvSpPr>
          <p:cNvPr id="5" name="Text 3"/>
          <p:cNvSpPr/>
          <p:nvPr/>
        </p:nvSpPr>
        <p:spPr>
          <a:xfrm>
            <a:off x="731520" y="1828800"/>
            <a:ext cx="3200400" cy="228600"/>
          </a:xfrm>
          <a:prstGeom prst="rect">
            <a:avLst/>
          </a:prstGeom>
          <a:noFill/>
          <a:ln/>
        </p:spPr>
        <p:txBody>
          <a:bodyPr wrap="square" lIns="0" tIns="0" rIns="0" bIns="0" rtlCol="0" anchor="ctr"/>
          <a:lstStyle/>
          <a:p>
            <a:pPr marL="0" indent="0">
              <a:buNone/>
            </a:pPr>
            <a:r>
              <a:rPr lang="en-US" sz="1100" b="1" dirty="0">
                <a:solidFill>
                  <a:srgbClr val="1B3A5C"/>
                </a:solidFill>
                <a:latin typeface="Arial" pitchFamily="34" charset="0"/>
                <a:ea typeface="Arial" pitchFamily="34" charset="-122"/>
                <a:cs typeface="Arial" pitchFamily="34" charset="-120"/>
              </a:rPr>
              <a:t>Southwaste Hurst (est. 1948)</a:t>
            </a:r>
            <a:endParaRPr lang="en-US" sz="1100" dirty="0"/>
          </a:p>
        </p:txBody>
      </p:sp>
      <p:sp>
        <p:nvSpPr>
          <p:cNvPr id="6" name="Text 4"/>
          <p:cNvSpPr/>
          <p:nvPr/>
        </p:nvSpPr>
        <p:spPr>
          <a:xfrm>
            <a:off x="731520" y="2029968"/>
            <a:ext cx="3200400" cy="182880"/>
          </a:xfrm>
          <a:prstGeom prst="rect">
            <a:avLst/>
          </a:prstGeom>
          <a:noFill/>
          <a:ln/>
        </p:spPr>
        <p:txBody>
          <a:bodyPr wrap="square" lIns="0" tIns="0" rIns="0" bIns="0" rtlCol="0" anchor="ctr"/>
          <a:lstStyle/>
          <a:p>
            <a:pPr marL="0" indent="0">
              <a:buNone/>
            </a:pPr>
            <a:r>
              <a:rPr lang="en-US" sz="900" dirty="0">
                <a:solidFill>
                  <a:srgbClr val="7F8C8D"/>
                </a:solidFill>
                <a:latin typeface="Arial" pitchFamily="34" charset="0"/>
                <a:ea typeface="Arial" pitchFamily="34" charset="-122"/>
                <a:cs typeface="Arial" pitchFamily="34" charset="-120"/>
              </a:rPr>
              <a:t>1,393 zones | Dominant operator</a:t>
            </a:r>
            <a:endParaRPr lang="en-US" sz="900" dirty="0"/>
          </a:p>
        </p:txBody>
      </p:sp>
      <p:sp>
        <p:nvSpPr>
          <p:cNvPr id="7" name="Text 5"/>
          <p:cNvSpPr/>
          <p:nvPr/>
        </p:nvSpPr>
        <p:spPr>
          <a:xfrm>
            <a:off x="731520" y="2331720"/>
            <a:ext cx="3200400" cy="228600"/>
          </a:xfrm>
          <a:prstGeom prst="rect">
            <a:avLst/>
          </a:prstGeom>
          <a:noFill/>
          <a:ln/>
        </p:spPr>
        <p:txBody>
          <a:bodyPr wrap="square" lIns="0" tIns="0" rIns="0" bIns="0" rtlCol="0" anchor="ctr"/>
          <a:lstStyle/>
          <a:p>
            <a:pPr marL="0" indent="0">
              <a:buNone/>
            </a:pPr>
            <a:r>
              <a:rPr lang="en-US" sz="1100" b="1" dirty="0">
                <a:solidFill>
                  <a:srgbClr val="1B3A5C"/>
                </a:solidFill>
                <a:latin typeface="Arial" pitchFamily="34" charset="0"/>
                <a:ea typeface="Arial" pitchFamily="34" charset="-122"/>
                <a:cs typeface="Arial" pitchFamily="34" charset="-120"/>
              </a:rPr>
              <a:t>Downstream Facility</a:t>
            </a:r>
            <a:endParaRPr lang="en-US" sz="1100" dirty="0"/>
          </a:p>
        </p:txBody>
      </p:sp>
      <p:sp>
        <p:nvSpPr>
          <p:cNvPr id="8" name="Text 6"/>
          <p:cNvSpPr/>
          <p:nvPr/>
        </p:nvSpPr>
        <p:spPr>
          <a:xfrm>
            <a:off x="731520" y="2532888"/>
            <a:ext cx="3200400" cy="182880"/>
          </a:xfrm>
          <a:prstGeom prst="rect">
            <a:avLst/>
          </a:prstGeom>
          <a:noFill/>
          <a:ln/>
        </p:spPr>
        <p:txBody>
          <a:bodyPr wrap="square" lIns="0" tIns="0" rIns="0" bIns="0" rtlCol="0" anchor="ctr"/>
          <a:lstStyle/>
          <a:p>
            <a:pPr marL="0" indent="0">
              <a:buNone/>
            </a:pPr>
            <a:r>
              <a:rPr lang="en-US" sz="900" dirty="0">
                <a:solidFill>
                  <a:srgbClr val="7F8C8D"/>
                </a:solidFill>
                <a:latin typeface="Arial" pitchFamily="34" charset="0"/>
                <a:ea typeface="Arial" pitchFamily="34" charset="-122"/>
                <a:cs typeface="Arial" pitchFamily="34" charset="-120"/>
              </a:rPr>
              <a:t>852 zones | SW Houston</a:t>
            </a:r>
            <a:endParaRPr lang="en-US" sz="900" dirty="0"/>
          </a:p>
        </p:txBody>
      </p:sp>
      <p:sp>
        <p:nvSpPr>
          <p:cNvPr id="9" name="Text 7"/>
          <p:cNvSpPr/>
          <p:nvPr/>
        </p:nvSpPr>
        <p:spPr>
          <a:xfrm>
            <a:off x="731520" y="2834640"/>
            <a:ext cx="3200400" cy="228600"/>
          </a:xfrm>
          <a:prstGeom prst="rect">
            <a:avLst/>
          </a:prstGeom>
          <a:noFill/>
          <a:ln/>
        </p:spPr>
        <p:txBody>
          <a:bodyPr wrap="square" lIns="0" tIns="0" rIns="0" bIns="0" rtlCol="0" anchor="ctr"/>
          <a:lstStyle/>
          <a:p>
            <a:pPr marL="0" indent="0">
              <a:buNone/>
            </a:pPr>
            <a:r>
              <a:rPr lang="en-US" sz="1100" b="1" dirty="0">
                <a:solidFill>
                  <a:srgbClr val="1B3A5C"/>
                </a:solidFill>
                <a:latin typeface="Arial" pitchFamily="34" charset="0"/>
                <a:ea typeface="Arial" pitchFamily="34" charset="-122"/>
                <a:cs typeface="Arial" pitchFamily="34" charset="-120"/>
              </a:rPr>
              <a:t>Vexara Pharmaceuticals</a:t>
            </a:r>
            <a:endParaRPr lang="en-US" sz="1100" dirty="0"/>
          </a:p>
        </p:txBody>
      </p:sp>
      <p:sp>
        <p:nvSpPr>
          <p:cNvPr id="10" name="Text 8"/>
          <p:cNvSpPr/>
          <p:nvPr/>
        </p:nvSpPr>
        <p:spPr>
          <a:xfrm>
            <a:off x="731520" y="3035808"/>
            <a:ext cx="3200400" cy="182880"/>
          </a:xfrm>
          <a:prstGeom prst="rect">
            <a:avLst/>
          </a:prstGeom>
          <a:noFill/>
          <a:ln/>
        </p:spPr>
        <p:txBody>
          <a:bodyPr wrap="square" lIns="0" tIns="0" rIns="0" bIns="0" rtlCol="0" anchor="ctr"/>
          <a:lstStyle/>
          <a:p>
            <a:pPr marL="0" indent="0">
              <a:buNone/>
            </a:pPr>
            <a:r>
              <a:rPr lang="en-US" sz="900" dirty="0">
                <a:solidFill>
                  <a:srgbClr val="7F8C8D"/>
                </a:solidFill>
                <a:latin typeface="Arial" pitchFamily="34" charset="0"/>
                <a:ea typeface="Arial" pitchFamily="34" charset="-122"/>
                <a:cs typeface="Arial" pitchFamily="34" charset="-120"/>
              </a:rPr>
              <a:t>328 zones | Operating, expansion Pending</a:t>
            </a:r>
            <a:endParaRPr lang="en-US" sz="900" dirty="0"/>
          </a:p>
        </p:txBody>
      </p:sp>
      <p:sp>
        <p:nvSpPr>
          <p:cNvPr id="11" name="Text 9"/>
          <p:cNvSpPr/>
          <p:nvPr/>
        </p:nvSpPr>
        <p:spPr>
          <a:xfrm>
            <a:off x="731520" y="3337560"/>
            <a:ext cx="3200400" cy="228600"/>
          </a:xfrm>
          <a:prstGeom prst="rect">
            <a:avLst/>
          </a:prstGeom>
          <a:noFill/>
          <a:ln/>
        </p:spPr>
        <p:txBody>
          <a:bodyPr wrap="square" lIns="0" tIns="0" rIns="0" bIns="0" rtlCol="0" anchor="ctr"/>
          <a:lstStyle/>
          <a:p>
            <a:pPr marL="0" indent="0">
              <a:buNone/>
            </a:pPr>
            <a:r>
              <a:rPr lang="en-US" sz="1100" b="1" dirty="0">
                <a:solidFill>
                  <a:srgbClr val="1B3A5C"/>
                </a:solidFill>
                <a:latin typeface="Arial" pitchFamily="34" charset="0"/>
                <a:ea typeface="Arial" pitchFamily="34" charset="-122"/>
                <a:cs typeface="Arial" pitchFamily="34" charset="-120"/>
              </a:rPr>
              <a:t>TAP Inc / Big K Environmental</a:t>
            </a:r>
            <a:endParaRPr lang="en-US" sz="1100" dirty="0"/>
          </a:p>
        </p:txBody>
      </p:sp>
      <p:sp>
        <p:nvSpPr>
          <p:cNvPr id="12" name="Text 10"/>
          <p:cNvSpPr/>
          <p:nvPr/>
        </p:nvSpPr>
        <p:spPr>
          <a:xfrm>
            <a:off x="731520" y="3538728"/>
            <a:ext cx="3200400" cy="182880"/>
          </a:xfrm>
          <a:prstGeom prst="rect">
            <a:avLst/>
          </a:prstGeom>
          <a:noFill/>
          <a:ln/>
        </p:spPr>
        <p:txBody>
          <a:bodyPr wrap="square" lIns="0" tIns="0" rIns="0" bIns="0" rtlCol="0" anchor="ctr"/>
          <a:lstStyle/>
          <a:p>
            <a:pPr marL="0" indent="0">
              <a:buNone/>
            </a:pPr>
            <a:r>
              <a:rPr lang="en-US" sz="900" dirty="0">
                <a:solidFill>
                  <a:srgbClr val="7F8C8D"/>
                </a:solidFill>
                <a:latin typeface="Arial" pitchFamily="34" charset="0"/>
                <a:ea typeface="Arial" pitchFamily="34" charset="-122"/>
                <a:cs typeface="Arial" pitchFamily="34" charset="-120"/>
              </a:rPr>
              <a:t xml:space="preserve">260 zones | North Houston </a:t>
            </a:r>
            <a:endParaRPr lang="en-US" sz="900" dirty="0"/>
          </a:p>
        </p:txBody>
      </p:sp>
      <p:sp>
        <p:nvSpPr>
          <p:cNvPr id="13" name="Text 11"/>
          <p:cNvSpPr/>
          <p:nvPr/>
        </p:nvSpPr>
        <p:spPr>
          <a:xfrm>
            <a:off x="731520" y="3840480"/>
            <a:ext cx="3200400" cy="228600"/>
          </a:xfrm>
          <a:prstGeom prst="rect">
            <a:avLst/>
          </a:prstGeom>
          <a:noFill/>
          <a:ln/>
        </p:spPr>
        <p:txBody>
          <a:bodyPr wrap="square" lIns="0" tIns="0" rIns="0" bIns="0" rtlCol="0" anchor="ctr"/>
          <a:lstStyle/>
          <a:p>
            <a:pPr marL="0" indent="0">
              <a:buNone/>
            </a:pPr>
            <a:r>
              <a:rPr lang="en-US" sz="1100" b="1" dirty="0">
                <a:solidFill>
                  <a:srgbClr val="1B3A5C"/>
                </a:solidFill>
                <a:latin typeface="Arial" pitchFamily="34" charset="0"/>
                <a:ea typeface="Arial" pitchFamily="34" charset="-122"/>
                <a:cs typeface="Arial" pitchFamily="34" charset="-120"/>
              </a:rPr>
              <a:t>Genesyst International</a:t>
            </a:r>
            <a:endParaRPr lang="en-US" sz="1100" dirty="0"/>
          </a:p>
        </p:txBody>
      </p:sp>
      <p:sp>
        <p:nvSpPr>
          <p:cNvPr id="14" name="Text 12"/>
          <p:cNvSpPr/>
          <p:nvPr/>
        </p:nvSpPr>
        <p:spPr>
          <a:xfrm>
            <a:off x="731520" y="4041648"/>
            <a:ext cx="3200400" cy="182880"/>
          </a:xfrm>
          <a:prstGeom prst="rect">
            <a:avLst/>
          </a:prstGeom>
          <a:noFill/>
          <a:ln/>
        </p:spPr>
        <p:txBody>
          <a:bodyPr wrap="square" lIns="0" tIns="0" rIns="0" bIns="0" rtlCol="0" anchor="ctr"/>
          <a:lstStyle/>
          <a:p>
            <a:pPr marL="0" indent="0">
              <a:buNone/>
            </a:pPr>
            <a:r>
              <a:rPr lang="en-US" sz="900" dirty="0">
                <a:solidFill>
                  <a:srgbClr val="7F8C8D"/>
                </a:solidFill>
                <a:latin typeface="Arial" pitchFamily="34" charset="0"/>
                <a:ea typeface="Arial" pitchFamily="34" charset="-122"/>
                <a:cs typeface="Arial" pitchFamily="34" charset="-120"/>
              </a:rPr>
              <a:t>230 zones | East Houston | Not built</a:t>
            </a:r>
            <a:endParaRPr lang="en-US" sz="900" dirty="0"/>
          </a:p>
        </p:txBody>
      </p:sp>
      <p:sp>
        <p:nvSpPr>
          <p:cNvPr id="15" name="Shape 13"/>
          <p:cNvSpPr/>
          <p:nvPr/>
        </p:nvSpPr>
        <p:spPr>
          <a:xfrm>
            <a:off x="5029200" y="1371600"/>
            <a:ext cx="3840480" cy="3200400"/>
          </a:xfrm>
          <a:prstGeom prst="rect">
            <a:avLst/>
          </a:prstGeom>
          <a:solidFill>
            <a:srgbClr val="0D1B2A"/>
          </a:solidFill>
          <a:ln/>
        </p:spPr>
      </p:sp>
      <p:sp>
        <p:nvSpPr>
          <p:cNvPr id="16" name="Text 14"/>
          <p:cNvSpPr/>
          <p:nvPr/>
        </p:nvSpPr>
        <p:spPr>
          <a:xfrm>
            <a:off x="5303520" y="1554480"/>
            <a:ext cx="3291840" cy="274320"/>
          </a:xfrm>
          <a:prstGeom prst="rect">
            <a:avLst/>
          </a:prstGeom>
          <a:noFill/>
          <a:ln/>
        </p:spPr>
        <p:txBody>
          <a:bodyPr wrap="square" lIns="0" tIns="0" rIns="0" bIns="0" rtlCol="0" anchor="ctr"/>
          <a:lstStyle/>
          <a:p>
            <a:pPr marL="0" indent="0">
              <a:buNone/>
            </a:pPr>
            <a:r>
              <a:rPr lang="en-US" sz="1100" b="1" kern="0" spc="200" dirty="0">
                <a:solidFill>
                  <a:srgbClr val="4DA8DA"/>
                </a:solidFill>
                <a:latin typeface="Arial" pitchFamily="34" charset="0"/>
                <a:ea typeface="Arial" pitchFamily="34" charset="-122"/>
                <a:cs typeface="Arial" pitchFamily="34" charset="-120"/>
              </a:rPr>
              <a:t>MARKET SIZING</a:t>
            </a:r>
            <a:endParaRPr lang="en-US" sz="1100" dirty="0"/>
          </a:p>
        </p:txBody>
      </p:sp>
      <p:sp>
        <p:nvSpPr>
          <p:cNvPr id="17" name="Text 15"/>
          <p:cNvSpPr/>
          <p:nvPr/>
        </p:nvSpPr>
        <p:spPr>
          <a:xfrm>
            <a:off x="5303520" y="1920240"/>
            <a:ext cx="3291840" cy="6400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275M+</a:t>
            </a:r>
            <a:endParaRPr lang="en-US" sz="3600" dirty="0"/>
          </a:p>
        </p:txBody>
      </p:sp>
      <p:sp>
        <p:nvSpPr>
          <p:cNvPr id="18" name="Text 16"/>
          <p:cNvSpPr/>
          <p:nvPr/>
        </p:nvSpPr>
        <p:spPr>
          <a:xfrm>
            <a:off x="5303520" y="2468880"/>
            <a:ext cx="3291840" cy="274320"/>
          </a:xfrm>
          <a:prstGeom prst="rect">
            <a:avLst/>
          </a:prstGeom>
          <a:noFill/>
          <a:ln/>
        </p:spPr>
        <p:txBody>
          <a:bodyPr wrap="square" lIns="0" tIns="0" rIns="0" bIns="0" rtlCol="0" anchor="ctr"/>
          <a:lstStyle/>
          <a:p>
            <a:pPr marL="0" indent="0">
              <a:buNone/>
            </a:pPr>
            <a:r>
              <a:rPr lang="en-US" sz="1000" dirty="0">
                <a:solidFill>
                  <a:srgbClr val="7F8C8D"/>
                </a:solidFill>
                <a:latin typeface="Arial" pitchFamily="34" charset="0"/>
                <a:ea typeface="Arial" pitchFamily="34" charset="-122"/>
                <a:cs typeface="Arial" pitchFamily="34" charset="-120"/>
              </a:rPr>
              <a:t>gallons processed by Southwaste in 2025</a:t>
            </a:r>
            <a:endParaRPr lang="en-US" sz="1000" dirty="0"/>
          </a:p>
        </p:txBody>
      </p:sp>
      <p:sp>
        <p:nvSpPr>
          <p:cNvPr id="19" name="Text 17"/>
          <p:cNvSpPr/>
          <p:nvPr/>
        </p:nvSpPr>
        <p:spPr>
          <a:xfrm>
            <a:off x="5303520" y="2926080"/>
            <a:ext cx="3291840" cy="457200"/>
          </a:xfrm>
          <a:prstGeom prst="rect">
            <a:avLst/>
          </a:prstGeom>
          <a:noFill/>
          <a:ln/>
        </p:spPr>
        <p:txBody>
          <a:bodyPr wrap="square" lIns="0" tIns="0" rIns="0" bIns="0" rtlCol="0" anchor="ctr"/>
          <a:lstStyle/>
          <a:p>
            <a:pPr marL="0" indent="0">
              <a:buNone/>
            </a:pPr>
            <a:r>
              <a:rPr lang="en-US" sz="2800" b="1" dirty="0">
                <a:solidFill>
                  <a:srgbClr val="4DA8DA"/>
                </a:solidFill>
                <a:latin typeface="Georgia" pitchFamily="34" charset="0"/>
                <a:ea typeface="Georgia" pitchFamily="34" charset="-122"/>
                <a:cs typeface="Georgia" pitchFamily="34" charset="-120"/>
              </a:rPr>
              <a:t>302.5M</a:t>
            </a:r>
            <a:endParaRPr lang="en-US" sz="2800" dirty="0"/>
          </a:p>
        </p:txBody>
      </p:sp>
      <p:sp>
        <p:nvSpPr>
          <p:cNvPr id="20" name="Text 18"/>
          <p:cNvSpPr/>
          <p:nvPr/>
        </p:nvSpPr>
        <p:spPr>
          <a:xfrm>
            <a:off x="5303520" y="3337560"/>
            <a:ext cx="3291840" cy="274320"/>
          </a:xfrm>
          <a:prstGeom prst="rect">
            <a:avLst/>
          </a:prstGeom>
          <a:noFill/>
          <a:ln/>
        </p:spPr>
        <p:txBody>
          <a:bodyPr wrap="square" lIns="0" tIns="0" rIns="0" bIns="0" rtlCol="0" anchor="ctr"/>
          <a:lstStyle/>
          <a:p>
            <a:pPr marL="0" indent="0">
              <a:buNone/>
            </a:pPr>
            <a:r>
              <a:rPr lang="en-US" sz="1000" dirty="0">
                <a:solidFill>
                  <a:srgbClr val="7F8C8D"/>
                </a:solidFill>
                <a:latin typeface="Arial" pitchFamily="34" charset="0"/>
                <a:ea typeface="Arial" pitchFamily="34" charset="-122"/>
                <a:cs typeface="Arial" pitchFamily="34" charset="-120"/>
              </a:rPr>
              <a:t>2026 target (+10% YoY growth)</a:t>
            </a:r>
            <a:endParaRPr lang="en-US" sz="1000" dirty="0"/>
          </a:p>
        </p:txBody>
      </p:sp>
      <p:sp>
        <p:nvSpPr>
          <p:cNvPr id="21" name="Text 19"/>
          <p:cNvSpPr/>
          <p:nvPr/>
        </p:nvSpPr>
        <p:spPr>
          <a:xfrm>
            <a:off x="5303520" y="3749040"/>
            <a:ext cx="3291840" cy="365760"/>
          </a:xfrm>
          <a:prstGeom prst="rect">
            <a:avLst/>
          </a:prstGeom>
          <a:noFill/>
          <a:ln/>
        </p:spPr>
        <p:txBody>
          <a:bodyPr wrap="square" lIns="0" tIns="0" rIns="0" bIns="0" rtlCol="0" anchor="ctr"/>
          <a:lstStyle/>
          <a:p>
            <a:pPr marL="0" indent="0">
              <a:buNone/>
            </a:pPr>
            <a:r>
              <a:rPr lang="en-US" sz="2000" b="1" dirty="0">
                <a:solidFill>
                  <a:srgbClr val="27AE60"/>
                </a:solidFill>
                <a:latin typeface="Georgia" pitchFamily="34" charset="0"/>
                <a:ea typeface="Georgia" pitchFamily="34" charset="-122"/>
                <a:cs typeface="Georgia" pitchFamily="34" charset="-120"/>
              </a:rPr>
              <a:t>$13.75M-$41.25M</a:t>
            </a:r>
            <a:endParaRPr lang="en-US" sz="2000" dirty="0"/>
          </a:p>
        </p:txBody>
      </p:sp>
      <p:sp>
        <p:nvSpPr>
          <p:cNvPr id="22" name="Text 20"/>
          <p:cNvSpPr/>
          <p:nvPr/>
        </p:nvSpPr>
        <p:spPr>
          <a:xfrm>
            <a:off x="5303520" y="4114800"/>
            <a:ext cx="3291840" cy="365760"/>
          </a:xfrm>
          <a:prstGeom prst="rect">
            <a:avLst/>
          </a:prstGeom>
          <a:noFill/>
          <a:ln/>
        </p:spPr>
        <p:txBody>
          <a:bodyPr wrap="square" lIns="0" tIns="0" rIns="0" bIns="0" rtlCol="0" anchor="ctr"/>
          <a:lstStyle/>
          <a:p>
            <a:pPr marL="0" indent="0">
              <a:lnSpc>
                <a:spcPct val="130000"/>
              </a:lnSpc>
              <a:buNone/>
            </a:pPr>
            <a:r>
              <a:rPr lang="en-US" sz="900" dirty="0">
                <a:solidFill>
                  <a:srgbClr val="7F8C8D"/>
                </a:solidFill>
                <a:latin typeface="Arial" pitchFamily="34" charset="0"/>
                <a:ea typeface="Arial" pitchFamily="34" charset="-122"/>
                <a:cs typeface="Arial" pitchFamily="34" charset="-120"/>
              </a:rPr>
              <a:t>estimated annual tip fee revenue</a:t>
            </a:r>
            <a:endParaRPr lang="en-US" sz="900" dirty="0"/>
          </a:p>
          <a:p>
            <a:pPr marL="0" indent="0">
              <a:lnSpc>
                <a:spcPct val="130000"/>
              </a:lnSpc>
              <a:buNone/>
            </a:pPr>
            <a:r>
              <a:rPr lang="en-US" sz="900" dirty="0">
                <a:solidFill>
                  <a:srgbClr val="7F8C8D"/>
                </a:solidFill>
                <a:latin typeface="Arial" pitchFamily="34" charset="0"/>
                <a:ea typeface="Arial" pitchFamily="34" charset="-122"/>
                <a:cs typeface="Arial" pitchFamily="34" charset="-120"/>
              </a:rPr>
              <a:t>(single dominant operator)</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74320"/>
            <a:ext cx="8229600" cy="365760"/>
          </a:xfrm>
          <a:prstGeom prst="rect">
            <a:avLst/>
          </a:prstGeom>
          <a:noFill/>
          <a:ln/>
        </p:spPr>
        <p:txBody>
          <a:bodyPr wrap="square" lIns="0" tIns="0" rIns="0" bIns="0" rtlCol="0" anchor="ctr"/>
          <a:lstStyle/>
          <a:p>
            <a:pPr marL="0" indent="0">
              <a:buNone/>
            </a:pPr>
            <a:r>
              <a:rPr lang="en-US" sz="1100" b="1" kern="0" spc="300" dirty="0">
                <a:solidFill>
                  <a:srgbClr val="4DA8DA"/>
                </a:solidFill>
                <a:latin typeface="Arial" pitchFamily="34" charset="0"/>
                <a:ea typeface="Arial" pitchFamily="34" charset="-122"/>
                <a:cs typeface="Arial" pitchFamily="34" charset="-120"/>
              </a:rPr>
              <a:t>GAP ANALYSIS</a:t>
            </a:r>
            <a:endParaRPr lang="en-US" sz="1100" dirty="0"/>
          </a:p>
        </p:txBody>
      </p:sp>
      <p:sp>
        <p:nvSpPr>
          <p:cNvPr id="3" name="Text 1"/>
          <p:cNvSpPr/>
          <p:nvPr/>
        </p:nvSpPr>
        <p:spPr>
          <a:xfrm>
            <a:off x="731520" y="640080"/>
            <a:ext cx="7315200" cy="548640"/>
          </a:xfrm>
          <a:prstGeom prst="rect">
            <a:avLst/>
          </a:prstGeom>
          <a:noFill/>
          <a:ln/>
        </p:spPr>
        <p:txBody>
          <a:bodyPr wrap="square" lIns="0" tIns="0" rIns="0" bIns="0" rtlCol="0" anchor="ctr"/>
          <a:lstStyle/>
          <a:p>
            <a:pPr marL="0" indent="0">
              <a:buNone/>
            </a:pPr>
            <a:r>
              <a:rPr lang="en-US" sz="2400" b="1" dirty="0">
                <a:solidFill>
                  <a:srgbClr val="1B3A5C"/>
                </a:solidFill>
                <a:latin typeface="Georgia" pitchFamily="34" charset="0"/>
                <a:ea typeface="Georgia" pitchFamily="34" charset="-122"/>
                <a:cs typeface="Georgia" pitchFamily="34" charset="-120"/>
              </a:rPr>
              <a:t>50% of restaurant hot spots are 10+ miles from disposal</a:t>
            </a:r>
            <a:endParaRPr lang="en-US" sz="2400" dirty="0"/>
          </a:p>
        </p:txBody>
      </p:sp>
      <p:sp>
        <p:nvSpPr>
          <p:cNvPr id="4" name="Shape 2"/>
          <p:cNvSpPr/>
          <p:nvPr/>
        </p:nvSpPr>
        <p:spPr>
          <a:xfrm>
            <a:off x="731520" y="1463040"/>
            <a:ext cx="1920240" cy="1463040"/>
          </a:xfrm>
          <a:prstGeom prst="rect">
            <a:avLst/>
          </a:prstGeom>
          <a:solidFill>
            <a:srgbClr val="F0F4F8"/>
          </a:solidFill>
          <a:ln/>
        </p:spPr>
      </p:sp>
      <p:sp>
        <p:nvSpPr>
          <p:cNvPr id="5" name="Shape 3"/>
          <p:cNvSpPr/>
          <p:nvPr/>
        </p:nvSpPr>
        <p:spPr>
          <a:xfrm>
            <a:off x="731520" y="1463040"/>
            <a:ext cx="1920240" cy="54864"/>
          </a:xfrm>
          <a:prstGeom prst="rect">
            <a:avLst/>
          </a:prstGeom>
          <a:solidFill>
            <a:srgbClr val="C0392B"/>
          </a:solidFill>
          <a:ln/>
        </p:spPr>
      </p:sp>
      <p:sp>
        <p:nvSpPr>
          <p:cNvPr id="6" name="Text 4"/>
          <p:cNvSpPr/>
          <p:nvPr/>
        </p:nvSpPr>
        <p:spPr>
          <a:xfrm>
            <a:off x="731520" y="1600200"/>
            <a:ext cx="1920240" cy="274320"/>
          </a:xfrm>
          <a:prstGeom prst="rect">
            <a:avLst/>
          </a:prstGeom>
          <a:noFill/>
          <a:ln/>
        </p:spPr>
        <p:txBody>
          <a:bodyPr wrap="square" lIns="0" tIns="0" rIns="0" bIns="0" rtlCol="0" anchor="ctr"/>
          <a:lstStyle/>
          <a:p>
            <a:pPr marL="0" indent="0" algn="ctr">
              <a:buNone/>
            </a:pPr>
            <a:r>
              <a:rPr lang="en-US" sz="1000" b="1" dirty="0">
                <a:solidFill>
                  <a:srgbClr val="C0392B"/>
                </a:solidFill>
                <a:latin typeface="Arial" pitchFamily="34" charset="0"/>
                <a:ea typeface="Arial" pitchFamily="34" charset="-122"/>
                <a:cs typeface="Arial" pitchFamily="34" charset="-120"/>
              </a:rPr>
              <a:t>UNDERSERVED</a:t>
            </a:r>
            <a:endParaRPr lang="en-US" sz="1000" dirty="0"/>
          </a:p>
        </p:txBody>
      </p:sp>
      <p:sp>
        <p:nvSpPr>
          <p:cNvPr id="7" name="Text 5"/>
          <p:cNvSpPr/>
          <p:nvPr/>
        </p:nvSpPr>
        <p:spPr>
          <a:xfrm>
            <a:off x="731520" y="1874520"/>
            <a:ext cx="1920240" cy="457200"/>
          </a:xfrm>
          <a:prstGeom prst="rect">
            <a:avLst/>
          </a:prstGeom>
          <a:noFill/>
          <a:ln/>
        </p:spPr>
        <p:txBody>
          <a:bodyPr wrap="square" lIns="0" tIns="0" rIns="0" bIns="0" rtlCol="0" anchor="ctr"/>
          <a:lstStyle/>
          <a:p>
            <a:pPr marL="0" indent="0" algn="ctr">
              <a:buNone/>
            </a:pPr>
            <a:r>
              <a:rPr lang="en-US" sz="2800" b="1" dirty="0">
                <a:solidFill>
                  <a:srgbClr val="1B3A5C"/>
                </a:solidFill>
                <a:latin typeface="Georgia" pitchFamily="34" charset="0"/>
                <a:ea typeface="Georgia" pitchFamily="34" charset="-122"/>
                <a:cs typeface="Georgia" pitchFamily="34" charset="-120"/>
              </a:rPr>
              <a:t>13</a:t>
            </a:r>
            <a:endParaRPr lang="en-US" sz="2800" dirty="0"/>
          </a:p>
        </p:txBody>
      </p:sp>
      <p:sp>
        <p:nvSpPr>
          <p:cNvPr id="8" name="Text 6"/>
          <p:cNvSpPr/>
          <p:nvPr/>
        </p:nvSpPr>
        <p:spPr>
          <a:xfrm>
            <a:off x="731520" y="2331720"/>
            <a:ext cx="1920240" cy="274320"/>
          </a:xfrm>
          <a:prstGeom prst="rect">
            <a:avLst/>
          </a:prstGeom>
          <a:noFill/>
          <a:ln/>
        </p:spPr>
        <p:txBody>
          <a:bodyPr wrap="square" lIns="0" tIns="0" rIns="0" bIns="0" rtlCol="0" anchor="ctr"/>
          <a:lstStyle/>
          <a:p>
            <a:pPr marL="0" indent="0" algn="ctr">
              <a:buNone/>
            </a:pPr>
            <a:r>
              <a:rPr lang="en-US" sz="900" dirty="0">
                <a:solidFill>
                  <a:srgbClr val="7F8C8D"/>
                </a:solidFill>
                <a:latin typeface="Arial" pitchFamily="34" charset="0"/>
                <a:ea typeface="Arial" pitchFamily="34" charset="-122"/>
                <a:cs typeface="Arial" pitchFamily="34" charset="-120"/>
              </a:rPr>
              <a:t>zones | 301 restaurants</a:t>
            </a:r>
            <a:endParaRPr lang="en-US" sz="900" dirty="0"/>
          </a:p>
        </p:txBody>
      </p:sp>
      <p:sp>
        <p:nvSpPr>
          <p:cNvPr id="9" name="Text 7"/>
          <p:cNvSpPr/>
          <p:nvPr/>
        </p:nvSpPr>
        <p:spPr>
          <a:xfrm>
            <a:off x="731520" y="2606040"/>
            <a:ext cx="1920240" cy="182880"/>
          </a:xfrm>
          <a:prstGeom prst="rect">
            <a:avLst/>
          </a:prstGeom>
          <a:noFill/>
          <a:ln/>
        </p:spPr>
        <p:txBody>
          <a:bodyPr wrap="square" lIns="0" tIns="0" rIns="0" bIns="0" rtlCol="0" anchor="ctr"/>
          <a:lstStyle/>
          <a:p>
            <a:pPr marL="0" indent="0" algn="ctr">
              <a:buNone/>
            </a:pPr>
            <a:r>
              <a:rPr lang="en-US" sz="900" i="1" dirty="0">
                <a:solidFill>
                  <a:srgbClr val="7F8C8D"/>
                </a:solidFill>
                <a:latin typeface="Arial" pitchFamily="34" charset="0"/>
                <a:ea typeface="Arial" pitchFamily="34" charset="-122"/>
                <a:cs typeface="Arial" pitchFamily="34" charset="-120"/>
              </a:rPr>
              <a:t>&gt;15 miles</a:t>
            </a:r>
            <a:endParaRPr lang="en-US" sz="900" dirty="0"/>
          </a:p>
        </p:txBody>
      </p:sp>
      <p:sp>
        <p:nvSpPr>
          <p:cNvPr id="10" name="Shape 8"/>
          <p:cNvSpPr/>
          <p:nvPr/>
        </p:nvSpPr>
        <p:spPr>
          <a:xfrm>
            <a:off x="2834640" y="1463040"/>
            <a:ext cx="1920240" cy="1463040"/>
          </a:xfrm>
          <a:prstGeom prst="rect">
            <a:avLst/>
          </a:prstGeom>
          <a:solidFill>
            <a:srgbClr val="F0F4F8"/>
          </a:solidFill>
          <a:ln/>
        </p:spPr>
      </p:sp>
      <p:sp>
        <p:nvSpPr>
          <p:cNvPr id="11" name="Shape 9"/>
          <p:cNvSpPr/>
          <p:nvPr/>
        </p:nvSpPr>
        <p:spPr>
          <a:xfrm>
            <a:off x="2834640" y="1463040"/>
            <a:ext cx="1920240" cy="54864"/>
          </a:xfrm>
          <a:prstGeom prst="rect">
            <a:avLst/>
          </a:prstGeom>
          <a:solidFill>
            <a:srgbClr val="E67E22"/>
          </a:solidFill>
          <a:ln/>
        </p:spPr>
      </p:sp>
      <p:sp>
        <p:nvSpPr>
          <p:cNvPr id="12" name="Text 10"/>
          <p:cNvSpPr/>
          <p:nvPr/>
        </p:nvSpPr>
        <p:spPr>
          <a:xfrm>
            <a:off x="2834640" y="1600200"/>
            <a:ext cx="1920240" cy="274320"/>
          </a:xfrm>
          <a:prstGeom prst="rect">
            <a:avLst/>
          </a:prstGeom>
          <a:noFill/>
          <a:ln/>
        </p:spPr>
        <p:txBody>
          <a:bodyPr wrap="square" lIns="0" tIns="0" rIns="0" bIns="0" rtlCol="0" anchor="ctr"/>
          <a:lstStyle/>
          <a:p>
            <a:pPr marL="0" indent="0" algn="ctr">
              <a:buNone/>
            </a:pPr>
            <a:r>
              <a:rPr lang="en-US" sz="1000" b="1" dirty="0">
                <a:solidFill>
                  <a:srgbClr val="E67E22"/>
                </a:solidFill>
                <a:latin typeface="Arial" pitchFamily="34" charset="0"/>
                <a:ea typeface="Arial" pitchFamily="34" charset="-122"/>
                <a:cs typeface="Arial" pitchFamily="34" charset="-120"/>
              </a:rPr>
              <a:t>MODERATE GAP</a:t>
            </a:r>
            <a:endParaRPr lang="en-US" sz="1000" dirty="0"/>
          </a:p>
        </p:txBody>
      </p:sp>
      <p:sp>
        <p:nvSpPr>
          <p:cNvPr id="13" name="Text 11"/>
          <p:cNvSpPr/>
          <p:nvPr/>
        </p:nvSpPr>
        <p:spPr>
          <a:xfrm>
            <a:off x="2834640" y="1874520"/>
            <a:ext cx="1920240" cy="457200"/>
          </a:xfrm>
          <a:prstGeom prst="rect">
            <a:avLst/>
          </a:prstGeom>
          <a:noFill/>
          <a:ln/>
        </p:spPr>
        <p:txBody>
          <a:bodyPr wrap="square" lIns="0" tIns="0" rIns="0" bIns="0" rtlCol="0" anchor="ctr"/>
          <a:lstStyle/>
          <a:p>
            <a:pPr marL="0" indent="0" algn="ctr">
              <a:buNone/>
            </a:pPr>
            <a:r>
              <a:rPr lang="en-US" sz="2800" b="1" dirty="0">
                <a:solidFill>
                  <a:srgbClr val="1B3A5C"/>
                </a:solidFill>
                <a:latin typeface="Georgia" pitchFamily="34" charset="0"/>
                <a:ea typeface="Georgia" pitchFamily="34" charset="-122"/>
                <a:cs typeface="Georgia" pitchFamily="34" charset="-120"/>
              </a:rPr>
              <a:t>14</a:t>
            </a:r>
            <a:endParaRPr lang="en-US" sz="2800" dirty="0"/>
          </a:p>
        </p:txBody>
      </p:sp>
      <p:sp>
        <p:nvSpPr>
          <p:cNvPr id="14" name="Text 12"/>
          <p:cNvSpPr/>
          <p:nvPr/>
        </p:nvSpPr>
        <p:spPr>
          <a:xfrm>
            <a:off x="2834640" y="2331720"/>
            <a:ext cx="1920240" cy="274320"/>
          </a:xfrm>
          <a:prstGeom prst="rect">
            <a:avLst/>
          </a:prstGeom>
          <a:noFill/>
          <a:ln/>
        </p:spPr>
        <p:txBody>
          <a:bodyPr wrap="square" lIns="0" tIns="0" rIns="0" bIns="0" rtlCol="0" anchor="ctr"/>
          <a:lstStyle/>
          <a:p>
            <a:pPr marL="0" indent="0" algn="ctr">
              <a:buNone/>
            </a:pPr>
            <a:r>
              <a:rPr lang="en-US" sz="900" dirty="0">
                <a:solidFill>
                  <a:srgbClr val="7F8C8D"/>
                </a:solidFill>
                <a:latin typeface="Arial" pitchFamily="34" charset="0"/>
                <a:ea typeface="Arial" pitchFamily="34" charset="-122"/>
                <a:cs typeface="Arial" pitchFamily="34" charset="-120"/>
              </a:rPr>
              <a:t>zones | 700 restaurants</a:t>
            </a:r>
            <a:endParaRPr lang="en-US" sz="900" dirty="0"/>
          </a:p>
        </p:txBody>
      </p:sp>
      <p:sp>
        <p:nvSpPr>
          <p:cNvPr id="15" name="Text 13"/>
          <p:cNvSpPr/>
          <p:nvPr/>
        </p:nvSpPr>
        <p:spPr>
          <a:xfrm>
            <a:off x="2834640" y="2606040"/>
            <a:ext cx="1920240" cy="182880"/>
          </a:xfrm>
          <a:prstGeom prst="rect">
            <a:avLst/>
          </a:prstGeom>
          <a:noFill/>
          <a:ln/>
        </p:spPr>
        <p:txBody>
          <a:bodyPr wrap="square" lIns="0" tIns="0" rIns="0" bIns="0" rtlCol="0" anchor="ctr"/>
          <a:lstStyle/>
          <a:p>
            <a:pPr marL="0" indent="0" algn="ctr">
              <a:buNone/>
            </a:pPr>
            <a:r>
              <a:rPr lang="en-US" sz="900" i="1" dirty="0">
                <a:solidFill>
                  <a:srgbClr val="7F8C8D"/>
                </a:solidFill>
                <a:latin typeface="Arial" pitchFamily="34" charset="0"/>
                <a:ea typeface="Arial" pitchFamily="34" charset="-122"/>
                <a:cs typeface="Arial" pitchFamily="34" charset="-120"/>
              </a:rPr>
              <a:t>10-15 miles</a:t>
            </a:r>
            <a:endParaRPr lang="en-US" sz="900" dirty="0"/>
          </a:p>
        </p:txBody>
      </p:sp>
      <p:sp>
        <p:nvSpPr>
          <p:cNvPr id="16" name="Shape 14"/>
          <p:cNvSpPr/>
          <p:nvPr/>
        </p:nvSpPr>
        <p:spPr>
          <a:xfrm>
            <a:off x="4937760" y="1463040"/>
            <a:ext cx="1920240" cy="1463040"/>
          </a:xfrm>
          <a:prstGeom prst="rect">
            <a:avLst/>
          </a:prstGeom>
          <a:solidFill>
            <a:srgbClr val="F0F4F8"/>
          </a:solidFill>
          <a:ln/>
        </p:spPr>
      </p:sp>
      <p:sp>
        <p:nvSpPr>
          <p:cNvPr id="17" name="Shape 15"/>
          <p:cNvSpPr/>
          <p:nvPr/>
        </p:nvSpPr>
        <p:spPr>
          <a:xfrm>
            <a:off x="4937760" y="1463040"/>
            <a:ext cx="1920240" cy="54864"/>
          </a:xfrm>
          <a:prstGeom prst="rect">
            <a:avLst/>
          </a:prstGeom>
          <a:solidFill>
            <a:srgbClr val="F1C40F"/>
          </a:solidFill>
          <a:ln/>
        </p:spPr>
      </p:sp>
      <p:sp>
        <p:nvSpPr>
          <p:cNvPr id="18" name="Text 16"/>
          <p:cNvSpPr/>
          <p:nvPr/>
        </p:nvSpPr>
        <p:spPr>
          <a:xfrm>
            <a:off x="4937760" y="1600200"/>
            <a:ext cx="1920240" cy="274320"/>
          </a:xfrm>
          <a:prstGeom prst="rect">
            <a:avLst/>
          </a:prstGeom>
          <a:noFill/>
          <a:ln/>
        </p:spPr>
        <p:txBody>
          <a:bodyPr wrap="square" lIns="0" tIns="0" rIns="0" bIns="0" rtlCol="0" anchor="ctr"/>
          <a:lstStyle/>
          <a:p>
            <a:pPr marL="0" indent="0" algn="ctr">
              <a:buNone/>
            </a:pPr>
            <a:r>
              <a:rPr lang="en-US" sz="1000" b="1" dirty="0">
                <a:solidFill>
                  <a:srgbClr val="F1C40F"/>
                </a:solidFill>
                <a:latin typeface="Arial" pitchFamily="34" charset="0"/>
                <a:ea typeface="Arial" pitchFamily="34" charset="-122"/>
                <a:cs typeface="Arial" pitchFamily="34" charset="-120"/>
              </a:rPr>
              <a:t>SLIGHT GAP</a:t>
            </a:r>
            <a:endParaRPr lang="en-US" sz="1000" dirty="0"/>
          </a:p>
        </p:txBody>
      </p:sp>
      <p:sp>
        <p:nvSpPr>
          <p:cNvPr id="19" name="Text 17"/>
          <p:cNvSpPr/>
          <p:nvPr/>
        </p:nvSpPr>
        <p:spPr>
          <a:xfrm>
            <a:off x="4937760" y="1874520"/>
            <a:ext cx="1920240" cy="457200"/>
          </a:xfrm>
          <a:prstGeom prst="rect">
            <a:avLst/>
          </a:prstGeom>
          <a:noFill/>
          <a:ln/>
        </p:spPr>
        <p:txBody>
          <a:bodyPr wrap="square" lIns="0" tIns="0" rIns="0" bIns="0" rtlCol="0" anchor="ctr"/>
          <a:lstStyle/>
          <a:p>
            <a:pPr marL="0" indent="0" algn="ctr">
              <a:buNone/>
            </a:pPr>
            <a:r>
              <a:rPr lang="en-US" sz="2800" b="1" dirty="0">
                <a:solidFill>
                  <a:srgbClr val="1B3A5C"/>
                </a:solidFill>
                <a:latin typeface="Georgia" pitchFamily="34" charset="0"/>
                <a:ea typeface="Georgia" pitchFamily="34" charset="-122"/>
                <a:cs typeface="Georgia" pitchFamily="34" charset="-120"/>
              </a:rPr>
              <a:t>13</a:t>
            </a:r>
            <a:endParaRPr lang="en-US" sz="2800" dirty="0"/>
          </a:p>
        </p:txBody>
      </p:sp>
      <p:sp>
        <p:nvSpPr>
          <p:cNvPr id="20" name="Text 18"/>
          <p:cNvSpPr/>
          <p:nvPr/>
        </p:nvSpPr>
        <p:spPr>
          <a:xfrm>
            <a:off x="4937760" y="2331720"/>
            <a:ext cx="1920240" cy="274320"/>
          </a:xfrm>
          <a:prstGeom prst="rect">
            <a:avLst/>
          </a:prstGeom>
          <a:noFill/>
          <a:ln/>
        </p:spPr>
        <p:txBody>
          <a:bodyPr wrap="square" lIns="0" tIns="0" rIns="0" bIns="0" rtlCol="0" anchor="ctr"/>
          <a:lstStyle/>
          <a:p>
            <a:pPr marL="0" indent="0" algn="ctr">
              <a:buNone/>
            </a:pPr>
            <a:r>
              <a:rPr lang="en-US" sz="900" dirty="0">
                <a:solidFill>
                  <a:srgbClr val="7F8C8D"/>
                </a:solidFill>
                <a:latin typeface="Arial" pitchFamily="34" charset="0"/>
                <a:ea typeface="Arial" pitchFamily="34" charset="-122"/>
                <a:cs typeface="Arial" pitchFamily="34" charset="-120"/>
              </a:rPr>
              <a:t>zones | 661 restaurants</a:t>
            </a:r>
            <a:endParaRPr lang="en-US" sz="900" dirty="0"/>
          </a:p>
        </p:txBody>
      </p:sp>
      <p:sp>
        <p:nvSpPr>
          <p:cNvPr id="21" name="Text 19"/>
          <p:cNvSpPr/>
          <p:nvPr/>
        </p:nvSpPr>
        <p:spPr>
          <a:xfrm>
            <a:off x="4937760" y="2606040"/>
            <a:ext cx="1920240" cy="182880"/>
          </a:xfrm>
          <a:prstGeom prst="rect">
            <a:avLst/>
          </a:prstGeom>
          <a:noFill/>
          <a:ln/>
        </p:spPr>
        <p:txBody>
          <a:bodyPr wrap="square" lIns="0" tIns="0" rIns="0" bIns="0" rtlCol="0" anchor="ctr"/>
          <a:lstStyle/>
          <a:p>
            <a:pPr marL="0" indent="0" algn="ctr">
              <a:buNone/>
            </a:pPr>
            <a:r>
              <a:rPr lang="en-US" sz="900" i="1" dirty="0">
                <a:solidFill>
                  <a:srgbClr val="7F8C8D"/>
                </a:solidFill>
                <a:latin typeface="Arial" pitchFamily="34" charset="0"/>
                <a:ea typeface="Arial" pitchFamily="34" charset="-122"/>
                <a:cs typeface="Arial" pitchFamily="34" charset="-120"/>
              </a:rPr>
              <a:t>5-10 miles</a:t>
            </a:r>
            <a:endParaRPr lang="en-US" sz="900" dirty="0"/>
          </a:p>
        </p:txBody>
      </p:sp>
      <p:sp>
        <p:nvSpPr>
          <p:cNvPr id="22" name="Shape 20"/>
          <p:cNvSpPr/>
          <p:nvPr/>
        </p:nvSpPr>
        <p:spPr>
          <a:xfrm>
            <a:off x="7040880" y="1463040"/>
            <a:ext cx="1920240" cy="1463040"/>
          </a:xfrm>
          <a:prstGeom prst="rect">
            <a:avLst/>
          </a:prstGeom>
          <a:solidFill>
            <a:srgbClr val="F0F4F8"/>
          </a:solidFill>
          <a:ln/>
        </p:spPr>
      </p:sp>
      <p:sp>
        <p:nvSpPr>
          <p:cNvPr id="23" name="Shape 21"/>
          <p:cNvSpPr/>
          <p:nvPr/>
        </p:nvSpPr>
        <p:spPr>
          <a:xfrm>
            <a:off x="7040880" y="1463040"/>
            <a:ext cx="1920240" cy="54864"/>
          </a:xfrm>
          <a:prstGeom prst="rect">
            <a:avLst/>
          </a:prstGeom>
          <a:solidFill>
            <a:srgbClr val="27AE60"/>
          </a:solidFill>
          <a:ln/>
        </p:spPr>
      </p:sp>
      <p:sp>
        <p:nvSpPr>
          <p:cNvPr id="24" name="Text 22"/>
          <p:cNvSpPr/>
          <p:nvPr/>
        </p:nvSpPr>
        <p:spPr>
          <a:xfrm>
            <a:off x="7040880" y="1600200"/>
            <a:ext cx="1920240" cy="274320"/>
          </a:xfrm>
          <a:prstGeom prst="rect">
            <a:avLst/>
          </a:prstGeom>
          <a:noFill/>
          <a:ln/>
        </p:spPr>
        <p:txBody>
          <a:bodyPr wrap="square" lIns="0" tIns="0" rIns="0" bIns="0" rtlCol="0" anchor="ctr"/>
          <a:lstStyle/>
          <a:p>
            <a:pPr marL="0" indent="0" algn="ctr">
              <a:buNone/>
            </a:pPr>
            <a:r>
              <a:rPr lang="en-US" sz="1000" b="1" dirty="0">
                <a:solidFill>
                  <a:srgbClr val="27AE60"/>
                </a:solidFill>
                <a:latin typeface="Arial" pitchFamily="34" charset="0"/>
                <a:ea typeface="Arial" pitchFamily="34" charset="-122"/>
                <a:cs typeface="Arial" pitchFamily="34" charset="-120"/>
              </a:rPr>
              <a:t>SERVED</a:t>
            </a:r>
            <a:endParaRPr lang="en-US" sz="1000" dirty="0"/>
          </a:p>
        </p:txBody>
      </p:sp>
      <p:sp>
        <p:nvSpPr>
          <p:cNvPr id="25" name="Text 23"/>
          <p:cNvSpPr/>
          <p:nvPr/>
        </p:nvSpPr>
        <p:spPr>
          <a:xfrm>
            <a:off x="7040880" y="1874520"/>
            <a:ext cx="1920240" cy="457200"/>
          </a:xfrm>
          <a:prstGeom prst="rect">
            <a:avLst/>
          </a:prstGeom>
          <a:noFill/>
          <a:ln/>
        </p:spPr>
        <p:txBody>
          <a:bodyPr wrap="square" lIns="0" tIns="0" rIns="0" bIns="0" rtlCol="0" anchor="ctr"/>
          <a:lstStyle/>
          <a:p>
            <a:pPr marL="0" indent="0" algn="ctr">
              <a:buNone/>
            </a:pPr>
            <a:r>
              <a:rPr lang="en-US" sz="2800" b="1" dirty="0">
                <a:solidFill>
                  <a:srgbClr val="1B3A5C"/>
                </a:solidFill>
                <a:latin typeface="Georgia" pitchFamily="34" charset="0"/>
                <a:ea typeface="Georgia" pitchFamily="34" charset="-122"/>
                <a:cs typeface="Georgia" pitchFamily="34" charset="-120"/>
              </a:rPr>
              <a:t>14</a:t>
            </a:r>
            <a:endParaRPr lang="en-US" sz="2800" dirty="0"/>
          </a:p>
        </p:txBody>
      </p:sp>
      <p:sp>
        <p:nvSpPr>
          <p:cNvPr id="26" name="Text 24"/>
          <p:cNvSpPr/>
          <p:nvPr/>
        </p:nvSpPr>
        <p:spPr>
          <a:xfrm>
            <a:off x="7040880" y="2331720"/>
            <a:ext cx="1920240" cy="274320"/>
          </a:xfrm>
          <a:prstGeom prst="rect">
            <a:avLst/>
          </a:prstGeom>
          <a:noFill/>
          <a:ln/>
        </p:spPr>
        <p:txBody>
          <a:bodyPr wrap="square" lIns="0" tIns="0" rIns="0" bIns="0" rtlCol="0" anchor="ctr"/>
          <a:lstStyle/>
          <a:p>
            <a:pPr marL="0" indent="0" algn="ctr">
              <a:buNone/>
            </a:pPr>
            <a:r>
              <a:rPr lang="en-US" sz="900" dirty="0">
                <a:solidFill>
                  <a:srgbClr val="7F8C8D"/>
                </a:solidFill>
                <a:latin typeface="Arial" pitchFamily="34" charset="0"/>
                <a:ea typeface="Arial" pitchFamily="34" charset="-122"/>
                <a:cs typeface="Arial" pitchFamily="34" charset="-120"/>
              </a:rPr>
              <a:t>zones | 1,945 restaurants</a:t>
            </a:r>
            <a:endParaRPr lang="en-US" sz="900" dirty="0"/>
          </a:p>
        </p:txBody>
      </p:sp>
      <p:sp>
        <p:nvSpPr>
          <p:cNvPr id="27" name="Text 25"/>
          <p:cNvSpPr/>
          <p:nvPr/>
        </p:nvSpPr>
        <p:spPr>
          <a:xfrm>
            <a:off x="7040880" y="2606040"/>
            <a:ext cx="1920240" cy="182880"/>
          </a:xfrm>
          <a:prstGeom prst="rect">
            <a:avLst/>
          </a:prstGeom>
          <a:noFill/>
          <a:ln/>
        </p:spPr>
        <p:txBody>
          <a:bodyPr wrap="square" lIns="0" tIns="0" rIns="0" bIns="0" rtlCol="0" anchor="ctr"/>
          <a:lstStyle/>
          <a:p>
            <a:pPr marL="0" indent="0" algn="ctr">
              <a:buNone/>
            </a:pPr>
            <a:r>
              <a:rPr lang="en-US" sz="900" i="1" dirty="0">
                <a:solidFill>
                  <a:srgbClr val="7F8C8D"/>
                </a:solidFill>
                <a:latin typeface="Arial" pitchFamily="34" charset="0"/>
                <a:ea typeface="Arial" pitchFamily="34" charset="-122"/>
                <a:cs typeface="Arial" pitchFamily="34" charset="-120"/>
              </a:rPr>
              <a:t>&lt;5 miles</a:t>
            </a:r>
            <a:endParaRPr lang="en-US" sz="900" dirty="0"/>
          </a:p>
        </p:txBody>
      </p:sp>
      <p:sp>
        <p:nvSpPr>
          <p:cNvPr id="28" name="Shape 26"/>
          <p:cNvSpPr/>
          <p:nvPr/>
        </p:nvSpPr>
        <p:spPr>
          <a:xfrm>
            <a:off x="731520" y="3200400"/>
            <a:ext cx="7680960" cy="1371600"/>
          </a:xfrm>
          <a:prstGeom prst="rect">
            <a:avLst/>
          </a:prstGeom>
          <a:solidFill>
            <a:srgbClr val="F0F4F8"/>
          </a:solidFill>
          <a:ln/>
        </p:spPr>
      </p:sp>
      <p:sp>
        <p:nvSpPr>
          <p:cNvPr id="29" name="Text 27"/>
          <p:cNvSpPr/>
          <p:nvPr/>
        </p:nvSpPr>
        <p:spPr>
          <a:xfrm>
            <a:off x="1005840" y="3291840"/>
            <a:ext cx="7315200" cy="274320"/>
          </a:xfrm>
          <a:prstGeom prst="rect">
            <a:avLst/>
          </a:prstGeom>
          <a:noFill/>
          <a:ln/>
        </p:spPr>
        <p:txBody>
          <a:bodyPr wrap="square" lIns="0" tIns="0" rIns="0" bIns="0" rtlCol="0" anchor="ctr"/>
          <a:lstStyle/>
          <a:p>
            <a:pPr marL="0" indent="0">
              <a:buNone/>
            </a:pPr>
            <a:r>
              <a:rPr lang="en-US" sz="1200" b="1" dirty="0">
                <a:solidFill>
                  <a:srgbClr val="1B3A5C"/>
                </a:solidFill>
                <a:latin typeface="Arial" pitchFamily="34" charset="0"/>
                <a:ea typeface="Arial" pitchFamily="34" charset="-122"/>
                <a:cs typeface="Arial" pitchFamily="34" charset="-120"/>
              </a:rPr>
              <a:t>County-Level Pattern</a:t>
            </a:r>
            <a:endParaRPr lang="en-US" sz="1200" dirty="0"/>
          </a:p>
        </p:txBody>
      </p:sp>
      <p:sp>
        <p:nvSpPr>
          <p:cNvPr id="30" name="Text 28"/>
          <p:cNvSpPr/>
          <p:nvPr/>
        </p:nvSpPr>
        <p:spPr>
          <a:xfrm>
            <a:off x="1005840" y="3566160"/>
            <a:ext cx="7132320" cy="914400"/>
          </a:xfrm>
          <a:prstGeom prst="rect">
            <a:avLst/>
          </a:prstGeom>
          <a:noFill/>
          <a:ln/>
        </p:spPr>
        <p:txBody>
          <a:bodyPr wrap="square" lIns="0" tIns="0" rIns="0" bIns="0" rtlCol="0" anchor="ctr"/>
          <a:lstStyle/>
          <a:p>
            <a:pPr marL="0" indent="0">
              <a:lnSpc>
                <a:spcPct val="150000"/>
              </a:lnSpc>
              <a:buNone/>
            </a:pPr>
            <a:r>
              <a:rPr lang="en-US" sz="1000" b="1" dirty="0">
                <a:solidFill>
                  <a:srgbClr val="C0392B"/>
                </a:solidFill>
                <a:latin typeface="Arial" pitchFamily="34" charset="0"/>
                <a:ea typeface="Arial" pitchFamily="34" charset="-122"/>
                <a:cs typeface="Arial" pitchFamily="34" charset="-120"/>
              </a:rPr>
              <a:t xml:space="preserve">Montgomery County: </a:t>
            </a:r>
            <a:r>
              <a:rPr lang="en-US" sz="1000" dirty="0">
                <a:solidFill>
                  <a:srgbClr val="333333"/>
                </a:solidFill>
                <a:latin typeface="Arial" pitchFamily="34" charset="0"/>
                <a:ea typeface="Arial" pitchFamily="34" charset="-122"/>
                <a:cs typeface="Arial" pitchFamily="34" charset="-120"/>
              </a:rPr>
              <a:t>All zones UNDERSERVED (avg 26 mi). The Woodlands = 83 restaurants, 22.2 mi from nearest facility.</a:t>
            </a:r>
            <a:r>
              <a:rPr lang="en-US" sz="600" dirty="0">
                <a:solidFill>
                  <a:srgbClr val="000000"/>
                </a:solidFill>
                <a:latin typeface="Arial" pitchFamily="34" charset="0"/>
                <a:ea typeface="Arial" pitchFamily="34" charset="-122"/>
                <a:cs typeface="Arial" pitchFamily="34" charset="-120"/>
              </a:rPr>
              <a:t>
</a:t>
            </a:r>
            <a:endParaRPr lang="en-US" sz="1000" dirty="0"/>
          </a:p>
          <a:p>
            <a:pPr marL="0" indent="0">
              <a:lnSpc>
                <a:spcPct val="150000"/>
              </a:lnSpc>
              <a:buNone/>
            </a:pPr>
            <a:r>
              <a:rPr lang="en-US" sz="1000" b="1" dirty="0">
                <a:solidFill>
                  <a:srgbClr val="C0392B"/>
                </a:solidFill>
                <a:latin typeface="Arial" pitchFamily="34" charset="0"/>
                <a:ea typeface="Arial" pitchFamily="34" charset="-122"/>
                <a:cs typeface="Arial" pitchFamily="34" charset="-120"/>
              </a:rPr>
              <a:t xml:space="preserve">Fort Bend County: </a:t>
            </a:r>
            <a:r>
              <a:rPr lang="en-US" sz="1000" dirty="0">
                <a:solidFill>
                  <a:srgbClr val="333333"/>
                </a:solidFill>
                <a:latin typeface="Arial" pitchFamily="34" charset="0"/>
                <a:ea typeface="Arial" pitchFamily="34" charset="-122"/>
                <a:cs typeface="Arial" pitchFamily="34" charset="-120"/>
              </a:rPr>
              <a:t>1,522 establishments, zero 5GG facilities. Haulers drive 10-17 mi into Harris.</a:t>
            </a:r>
            <a:r>
              <a:rPr lang="en-US" sz="600" dirty="0">
                <a:solidFill>
                  <a:srgbClr val="000000"/>
                </a:solidFill>
                <a:latin typeface="Arial" pitchFamily="34" charset="0"/>
                <a:ea typeface="Arial" pitchFamily="34" charset="-122"/>
                <a:cs typeface="Arial" pitchFamily="34" charset="-120"/>
              </a:rPr>
              <a:t>
</a:t>
            </a:r>
            <a:endParaRPr lang="en-US" sz="1000" dirty="0"/>
          </a:p>
          <a:p>
            <a:pPr marL="0" indent="0">
              <a:lnSpc>
                <a:spcPct val="150000"/>
              </a:lnSpc>
              <a:buNone/>
            </a:pPr>
            <a:r>
              <a:rPr lang="en-US" sz="1000" b="1" dirty="0">
                <a:solidFill>
                  <a:srgbClr val="C0392B"/>
                </a:solidFill>
                <a:latin typeface="Arial" pitchFamily="34" charset="0"/>
                <a:ea typeface="Arial" pitchFamily="34" charset="-122"/>
                <a:cs typeface="Arial" pitchFamily="34" charset="-120"/>
              </a:rPr>
              <a:t xml:space="preserve">Galveston County: </a:t>
            </a:r>
            <a:r>
              <a:rPr lang="en-US" sz="1000" dirty="0">
                <a:solidFill>
                  <a:srgbClr val="333333"/>
                </a:solidFill>
                <a:latin typeface="Arial" pitchFamily="34" charset="0"/>
                <a:ea typeface="Arial" pitchFamily="34" charset="-122"/>
                <a:cs typeface="Arial" pitchFamily="34" charset="-120"/>
              </a:rPr>
              <a:t>39.4 mi from nearest facility. Most isolated market in the MSA.</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EB3CA59-377B-ADC0-2F24-BADAAE71AA6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237198C-9430-B4DD-C387-D49D4847E7E0}"/>
              </a:ext>
            </a:extLst>
          </p:cNvPr>
          <p:cNvSpPr/>
          <p:nvPr/>
        </p:nvSpPr>
        <p:spPr>
          <a:xfrm>
            <a:off x="731520" y="274320"/>
            <a:ext cx="8229600" cy="365760"/>
          </a:xfrm>
          <a:prstGeom prst="rect">
            <a:avLst/>
          </a:prstGeom>
          <a:noFill/>
          <a:ln/>
        </p:spPr>
        <p:txBody>
          <a:bodyPr wrap="square" lIns="0" tIns="0" rIns="0" bIns="0" rtlCol="0" anchor="ctr"/>
          <a:lstStyle/>
          <a:p>
            <a:pPr marL="0" indent="0">
              <a:buNone/>
            </a:pPr>
            <a:r>
              <a:rPr lang="en-US" sz="1100" b="1" kern="0" spc="300" dirty="0">
                <a:solidFill>
                  <a:srgbClr val="4DA8DA"/>
                </a:solidFill>
                <a:latin typeface="Arial" pitchFamily="34" charset="0"/>
                <a:ea typeface="Arial" pitchFamily="34" charset="-122"/>
                <a:cs typeface="Arial" pitchFamily="34" charset="-120"/>
              </a:rPr>
              <a:t>GAP ANALYSIS</a:t>
            </a:r>
            <a:endParaRPr lang="en-US" sz="1100" dirty="0"/>
          </a:p>
        </p:txBody>
      </p:sp>
      <p:sp>
        <p:nvSpPr>
          <p:cNvPr id="28" name="Shape 26">
            <a:extLst>
              <a:ext uri="{FF2B5EF4-FFF2-40B4-BE49-F238E27FC236}">
                <a16:creationId xmlns:a16="http://schemas.microsoft.com/office/drawing/2014/main" id="{1F47C8FE-837F-C6E8-8FFD-359BD5512E91}"/>
              </a:ext>
            </a:extLst>
          </p:cNvPr>
          <p:cNvSpPr/>
          <p:nvPr/>
        </p:nvSpPr>
        <p:spPr>
          <a:xfrm>
            <a:off x="615142" y="662940"/>
            <a:ext cx="7913716" cy="4010198"/>
          </a:xfrm>
          <a:prstGeom prst="rect">
            <a:avLst/>
          </a:prstGeom>
          <a:solidFill>
            <a:srgbClr val="F0F4F8"/>
          </a:solidFill>
          <a:ln/>
        </p:spPr>
      </p:sp>
      <p:sp>
        <p:nvSpPr>
          <p:cNvPr id="30" name="Text 28">
            <a:extLst>
              <a:ext uri="{FF2B5EF4-FFF2-40B4-BE49-F238E27FC236}">
                <a16:creationId xmlns:a16="http://schemas.microsoft.com/office/drawing/2014/main" id="{5D047948-A44C-A7E5-39E1-842036D85EBD}"/>
              </a:ext>
            </a:extLst>
          </p:cNvPr>
          <p:cNvSpPr/>
          <p:nvPr/>
        </p:nvSpPr>
        <p:spPr>
          <a:xfrm>
            <a:off x="1005840" y="3566160"/>
            <a:ext cx="7132320" cy="914400"/>
          </a:xfrm>
          <a:prstGeom prst="rect">
            <a:avLst/>
          </a:prstGeom>
          <a:noFill/>
          <a:ln/>
        </p:spPr>
        <p:txBody>
          <a:bodyPr wrap="square" lIns="0" tIns="0" rIns="0" bIns="0" rtlCol="0" anchor="ctr"/>
          <a:lstStyle/>
          <a:p>
            <a:pPr marL="0" indent="0">
              <a:lnSpc>
                <a:spcPct val="150000"/>
              </a:lnSpc>
              <a:buNone/>
            </a:pPr>
            <a:r>
              <a:rPr lang="en-US" sz="1000" dirty="0">
                <a:solidFill>
                  <a:srgbClr val="333333"/>
                </a:solidFill>
                <a:latin typeface="Arial" pitchFamily="34" charset="0"/>
                <a:ea typeface="Arial" pitchFamily="34" charset="-122"/>
                <a:cs typeface="Arial" pitchFamily="34" charset="-120"/>
              </a:rPr>
              <a:t>.</a:t>
            </a:r>
            <a:endParaRPr lang="en-US" sz="1000" dirty="0"/>
          </a:p>
        </p:txBody>
      </p:sp>
      <p:pic>
        <p:nvPicPr>
          <p:cNvPr id="32" name="Picture 31">
            <a:extLst>
              <a:ext uri="{FF2B5EF4-FFF2-40B4-BE49-F238E27FC236}">
                <a16:creationId xmlns:a16="http://schemas.microsoft.com/office/drawing/2014/main" id="{523CF238-3820-ECB3-3263-704790BCD822}"/>
              </a:ext>
            </a:extLst>
          </p:cNvPr>
          <p:cNvPicPr>
            <a:picLocks noChangeAspect="1"/>
          </p:cNvPicPr>
          <p:nvPr/>
        </p:nvPicPr>
        <p:blipFill>
          <a:blip r:embed="rId3"/>
          <a:stretch>
            <a:fillRect/>
          </a:stretch>
        </p:blipFill>
        <p:spPr>
          <a:xfrm>
            <a:off x="1307137" y="793173"/>
            <a:ext cx="6529726" cy="3778827"/>
          </a:xfrm>
          <a:prstGeom prst="rect">
            <a:avLst/>
          </a:prstGeom>
          <a:ln>
            <a:solidFill>
              <a:schemeClr val="tx2">
                <a:lumMod val="75000"/>
              </a:schemeClr>
            </a:solidFill>
          </a:ln>
        </p:spPr>
      </p:pic>
    </p:spTree>
    <p:extLst>
      <p:ext uri="{BB962C8B-B14F-4D97-AF65-F5344CB8AC3E}">
        <p14:creationId xmlns:p14="http://schemas.microsoft.com/office/powerpoint/2010/main" val="1189565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74320"/>
            <a:ext cx="8229600" cy="365760"/>
          </a:xfrm>
          <a:prstGeom prst="rect">
            <a:avLst/>
          </a:prstGeom>
          <a:noFill/>
          <a:ln/>
        </p:spPr>
        <p:txBody>
          <a:bodyPr wrap="square" lIns="0" tIns="0" rIns="0" bIns="0" rtlCol="0" anchor="ctr"/>
          <a:lstStyle/>
          <a:p>
            <a:pPr marL="0" indent="0">
              <a:buNone/>
            </a:pPr>
            <a:r>
              <a:rPr lang="en-US" sz="1100" b="1" kern="0" spc="300" dirty="0">
                <a:solidFill>
                  <a:srgbClr val="4DA8DA"/>
                </a:solidFill>
                <a:latin typeface="Arial" pitchFamily="34" charset="0"/>
                <a:ea typeface="Arial" pitchFamily="34" charset="-122"/>
                <a:cs typeface="Arial" pitchFamily="34" charset="-120"/>
              </a:rPr>
              <a:t>OPPORTUNITY MATRIX</a:t>
            </a:r>
            <a:endParaRPr lang="en-US" sz="1100" dirty="0"/>
          </a:p>
        </p:txBody>
      </p:sp>
      <p:sp>
        <p:nvSpPr>
          <p:cNvPr id="3" name="Text 1"/>
          <p:cNvSpPr/>
          <p:nvPr/>
        </p:nvSpPr>
        <p:spPr>
          <a:xfrm>
            <a:off x="731520" y="640080"/>
            <a:ext cx="7315200" cy="548640"/>
          </a:xfrm>
          <a:prstGeom prst="rect">
            <a:avLst/>
          </a:prstGeom>
          <a:noFill/>
          <a:ln/>
        </p:spPr>
        <p:txBody>
          <a:bodyPr wrap="square" lIns="0" tIns="0" rIns="0" bIns="0" rtlCol="0" anchor="ctr"/>
          <a:lstStyle/>
          <a:p>
            <a:pPr marL="0" indent="0">
              <a:buNone/>
            </a:pPr>
            <a:r>
              <a:rPr lang="en-US" sz="2400" b="1" dirty="0">
                <a:solidFill>
                  <a:srgbClr val="1B3A5C"/>
                </a:solidFill>
                <a:latin typeface="Georgia" pitchFamily="34" charset="0"/>
                <a:ea typeface="Georgia" pitchFamily="34" charset="-122"/>
                <a:cs typeface="Georgia" pitchFamily="34" charset="-120"/>
              </a:rPr>
              <a:t>High demand + far from facilities = the primary entry point</a:t>
            </a:r>
            <a:endParaRPr lang="en-US" sz="2400" dirty="0"/>
          </a:p>
        </p:txBody>
      </p:sp>
      <p:sp>
        <p:nvSpPr>
          <p:cNvPr id="4" name="Text 2"/>
          <p:cNvSpPr/>
          <p:nvPr/>
        </p:nvSpPr>
        <p:spPr>
          <a:xfrm>
            <a:off x="457200" y="1371600"/>
            <a:ext cx="8229600" cy="3200400"/>
          </a:xfrm>
          <a:prstGeom prst="rect">
            <a:avLst/>
          </a:prstGeom>
          <a:solidFill>
            <a:srgbClr val="F0F4F8"/>
          </a:solidFill>
          <a:ln/>
        </p:spPr>
        <p:txBody>
          <a:bodyPr wrap="square" rtlCol="0" anchor="ctr"/>
          <a:lstStyle/>
          <a:p>
            <a:pPr marL="0" indent="0" algn="ctr">
              <a:buNone/>
            </a:pPr>
            <a:r>
              <a:rPr lang="en-US" sz="1100" i="1" dirty="0">
                <a:solidFill>
                  <a:srgbClr val="7F8C8D"/>
                </a:solidFill>
              </a:rPr>
              <a:t>.</a:t>
            </a:r>
            <a:endParaRPr lang="en-US" sz="1400" dirty="0"/>
          </a:p>
        </p:txBody>
      </p:sp>
      <p:sp>
        <p:nvSpPr>
          <p:cNvPr id="5" name="Text 3"/>
          <p:cNvSpPr/>
          <p:nvPr/>
        </p:nvSpPr>
        <p:spPr>
          <a:xfrm>
            <a:off x="731520" y="4663440"/>
            <a:ext cx="7315200" cy="274320"/>
          </a:xfrm>
          <a:prstGeom prst="rect">
            <a:avLst/>
          </a:prstGeom>
          <a:noFill/>
          <a:ln/>
        </p:spPr>
        <p:txBody>
          <a:bodyPr wrap="square" lIns="0" tIns="0" rIns="0" bIns="0" rtlCol="0" anchor="ctr"/>
          <a:lstStyle/>
          <a:p>
            <a:pPr marL="0" indent="0">
              <a:buNone/>
            </a:pPr>
            <a:r>
              <a:rPr lang="en-US" sz="1000" b="1" i="1" dirty="0">
                <a:solidFill>
                  <a:srgbClr val="C0392B"/>
                </a:solidFill>
                <a:latin typeface="Arial" pitchFamily="34" charset="0"/>
                <a:ea typeface="Arial" pitchFamily="34" charset="-122"/>
                <a:cs typeface="Arial" pitchFamily="34" charset="-120"/>
              </a:rPr>
              <a:t>Upper-right quadrant = high demand, underserved = primary targets</a:t>
            </a:r>
            <a:endParaRPr lang="en-US" sz="1000" dirty="0"/>
          </a:p>
        </p:txBody>
      </p:sp>
      <p:pic>
        <p:nvPicPr>
          <p:cNvPr id="7" name="Picture 6">
            <a:extLst>
              <a:ext uri="{FF2B5EF4-FFF2-40B4-BE49-F238E27FC236}">
                <a16:creationId xmlns:a16="http://schemas.microsoft.com/office/drawing/2014/main" id="{478C1A19-6620-F6AC-F99E-8FA9F9A6756B}"/>
              </a:ext>
            </a:extLst>
          </p:cNvPr>
          <p:cNvPicPr>
            <a:picLocks noChangeAspect="1"/>
          </p:cNvPicPr>
          <p:nvPr/>
        </p:nvPicPr>
        <p:blipFill>
          <a:blip r:embed="rId3"/>
          <a:stretch>
            <a:fillRect/>
          </a:stretch>
        </p:blipFill>
        <p:spPr>
          <a:xfrm>
            <a:off x="2408754" y="1420784"/>
            <a:ext cx="4651314" cy="3082636"/>
          </a:xfrm>
          <a:prstGeom prst="rect">
            <a:avLst/>
          </a:prstGeom>
          <a:ln w="9525">
            <a:solidFill>
              <a:schemeClr val="tx2">
                <a:lumMod val="75000"/>
              </a:schemeClr>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74320"/>
            <a:ext cx="8229600" cy="365760"/>
          </a:xfrm>
          <a:prstGeom prst="rect">
            <a:avLst/>
          </a:prstGeom>
          <a:noFill/>
          <a:ln/>
        </p:spPr>
        <p:txBody>
          <a:bodyPr wrap="square" lIns="0" tIns="0" rIns="0" bIns="0" rtlCol="0" anchor="ctr"/>
          <a:lstStyle/>
          <a:p>
            <a:pPr marL="0" indent="0">
              <a:buNone/>
            </a:pPr>
            <a:r>
              <a:rPr lang="en-US" sz="1100" b="1" kern="0" spc="300" dirty="0">
                <a:solidFill>
                  <a:srgbClr val="4DA8DA"/>
                </a:solidFill>
                <a:latin typeface="Arial" pitchFamily="34" charset="0"/>
                <a:ea typeface="Arial" pitchFamily="34" charset="-122"/>
                <a:cs typeface="Arial" pitchFamily="34" charset="-120"/>
              </a:rPr>
              <a:t>REGULATORY TAILWINDS</a:t>
            </a:r>
            <a:endParaRPr lang="en-US" sz="1100" dirty="0"/>
          </a:p>
        </p:txBody>
      </p:sp>
      <p:sp>
        <p:nvSpPr>
          <p:cNvPr id="3" name="Text 1"/>
          <p:cNvSpPr/>
          <p:nvPr/>
        </p:nvSpPr>
        <p:spPr>
          <a:xfrm>
            <a:off x="731520" y="640080"/>
            <a:ext cx="7315200" cy="548640"/>
          </a:xfrm>
          <a:prstGeom prst="rect">
            <a:avLst/>
          </a:prstGeom>
          <a:noFill/>
          <a:ln/>
        </p:spPr>
        <p:txBody>
          <a:bodyPr wrap="square" lIns="0" tIns="0" rIns="0" bIns="0" rtlCol="0" anchor="ctr"/>
          <a:lstStyle/>
          <a:p>
            <a:pPr marL="0" indent="0">
              <a:buNone/>
            </a:pPr>
            <a:r>
              <a:rPr lang="en-US" sz="2400" b="1" dirty="0">
                <a:solidFill>
                  <a:srgbClr val="1B3A5C"/>
                </a:solidFill>
                <a:latin typeface="Georgia" pitchFamily="34" charset="0"/>
                <a:ea typeface="Georgia" pitchFamily="34" charset="-122"/>
                <a:cs typeface="Georgia" pitchFamily="34" charset="-120"/>
              </a:rPr>
              <a:t>Regulations are tightening. Demand is rising.</a:t>
            </a:r>
            <a:endParaRPr lang="en-US" sz="2400" dirty="0"/>
          </a:p>
        </p:txBody>
      </p:sp>
      <p:sp>
        <p:nvSpPr>
          <p:cNvPr id="4" name="Shape 2"/>
          <p:cNvSpPr/>
          <p:nvPr/>
        </p:nvSpPr>
        <p:spPr>
          <a:xfrm>
            <a:off x="731520" y="1371600"/>
            <a:ext cx="2560320" cy="2926080"/>
          </a:xfrm>
          <a:prstGeom prst="rect">
            <a:avLst/>
          </a:prstGeom>
          <a:solidFill>
            <a:srgbClr val="F0F4F8"/>
          </a:solidFill>
          <a:ln/>
        </p:spPr>
      </p:sp>
      <p:sp>
        <p:nvSpPr>
          <p:cNvPr id="5" name="Shape 3"/>
          <p:cNvSpPr/>
          <p:nvPr/>
        </p:nvSpPr>
        <p:spPr>
          <a:xfrm>
            <a:off x="731520" y="1371600"/>
            <a:ext cx="2560320" cy="54864"/>
          </a:xfrm>
          <a:prstGeom prst="rect">
            <a:avLst/>
          </a:prstGeom>
          <a:solidFill>
            <a:srgbClr val="4DA8DA"/>
          </a:solidFill>
          <a:ln/>
        </p:spPr>
      </p:sp>
      <p:sp>
        <p:nvSpPr>
          <p:cNvPr id="6" name="Text 4"/>
          <p:cNvSpPr/>
          <p:nvPr/>
        </p:nvSpPr>
        <p:spPr>
          <a:xfrm>
            <a:off x="914400" y="1554480"/>
            <a:ext cx="2194560" cy="274320"/>
          </a:xfrm>
          <a:prstGeom prst="rect">
            <a:avLst/>
          </a:prstGeom>
          <a:noFill/>
          <a:ln/>
        </p:spPr>
        <p:txBody>
          <a:bodyPr wrap="square" lIns="0" tIns="0" rIns="0" bIns="0" rtlCol="0" anchor="ctr"/>
          <a:lstStyle/>
          <a:p>
            <a:pPr marL="0" indent="0">
              <a:buNone/>
            </a:pPr>
            <a:r>
              <a:rPr lang="en-US" sz="1200" b="1" dirty="0">
                <a:solidFill>
                  <a:srgbClr val="1B3A5C"/>
                </a:solidFill>
                <a:latin typeface="Arial" pitchFamily="34" charset="0"/>
                <a:ea typeface="Arial" pitchFamily="34" charset="-122"/>
                <a:cs typeface="Arial" pitchFamily="34" charset="-120"/>
              </a:rPr>
              <a:t>FOG Limit Tightened</a:t>
            </a:r>
            <a:endParaRPr lang="en-US" sz="1200" dirty="0"/>
          </a:p>
        </p:txBody>
      </p:sp>
      <p:sp>
        <p:nvSpPr>
          <p:cNvPr id="7" name="Text 5"/>
          <p:cNvSpPr/>
          <p:nvPr/>
        </p:nvSpPr>
        <p:spPr>
          <a:xfrm>
            <a:off x="914400" y="1920240"/>
            <a:ext cx="2194560" cy="457200"/>
          </a:xfrm>
          <a:prstGeom prst="rect">
            <a:avLst/>
          </a:prstGeom>
          <a:noFill/>
          <a:ln/>
        </p:spPr>
        <p:txBody>
          <a:bodyPr wrap="square" lIns="0" tIns="0" rIns="0" bIns="0" rtlCol="0" anchor="ctr"/>
          <a:lstStyle/>
          <a:p>
            <a:pPr marL="0" indent="0">
              <a:buNone/>
            </a:pPr>
            <a:r>
              <a:rPr lang="en-US" sz="2200" b="1" dirty="0">
                <a:solidFill>
                  <a:srgbClr val="2C5F8A"/>
                </a:solidFill>
                <a:latin typeface="Georgia" pitchFamily="34" charset="0"/>
                <a:ea typeface="Georgia" pitchFamily="34" charset="-122"/>
                <a:cs typeface="Georgia" pitchFamily="34" charset="-120"/>
              </a:rPr>
              <a:t>400 → 200 mg/L</a:t>
            </a:r>
            <a:endParaRPr lang="en-US" sz="2200" dirty="0"/>
          </a:p>
        </p:txBody>
      </p:sp>
      <p:sp>
        <p:nvSpPr>
          <p:cNvPr id="8" name="Text 6"/>
          <p:cNvSpPr/>
          <p:nvPr/>
        </p:nvSpPr>
        <p:spPr>
          <a:xfrm>
            <a:off x="914400" y="2468880"/>
            <a:ext cx="2194560" cy="914400"/>
          </a:xfrm>
          <a:prstGeom prst="rect">
            <a:avLst/>
          </a:prstGeom>
          <a:noFill/>
          <a:ln/>
        </p:spPr>
        <p:txBody>
          <a:bodyPr wrap="square" lIns="0" tIns="0" rIns="0" bIns="0" rtlCol="0" anchor="ctr"/>
          <a:lstStyle/>
          <a:p>
            <a:pPr marL="0" indent="0">
              <a:lnSpc>
                <a:spcPct val="130000"/>
              </a:lnSpc>
              <a:buNone/>
            </a:pPr>
            <a:r>
              <a:rPr lang="en-US" sz="1000" dirty="0">
                <a:solidFill>
                  <a:srgbClr val="555555"/>
                </a:solidFill>
                <a:latin typeface="Arial" pitchFamily="34" charset="0"/>
                <a:ea typeface="Arial" pitchFamily="34" charset="-122"/>
                <a:cs typeface="Arial" pitchFamily="34" charset="-120"/>
              </a:rPr>
              <a:t>Houston cut discharge limits in half (Dec 2023). Restaurants previously compliant are now in violation.</a:t>
            </a:r>
            <a:endParaRPr lang="en-US" sz="1000" dirty="0"/>
          </a:p>
        </p:txBody>
      </p:sp>
      <p:sp>
        <p:nvSpPr>
          <p:cNvPr id="9" name="Text 7"/>
          <p:cNvSpPr/>
          <p:nvPr/>
        </p:nvSpPr>
        <p:spPr>
          <a:xfrm>
            <a:off x="914400" y="3566160"/>
            <a:ext cx="2194560" cy="274320"/>
          </a:xfrm>
          <a:prstGeom prst="rect">
            <a:avLst/>
          </a:prstGeom>
          <a:noFill/>
          <a:ln/>
        </p:spPr>
        <p:txBody>
          <a:bodyPr wrap="square" lIns="0" tIns="0" rIns="0" bIns="0" rtlCol="0" anchor="ctr"/>
          <a:lstStyle/>
          <a:p>
            <a:pPr marL="0" indent="0">
              <a:buNone/>
            </a:pPr>
            <a:r>
              <a:rPr lang="en-US" sz="1000" b="1" i="1" dirty="0">
                <a:solidFill>
                  <a:srgbClr val="4DA8DA"/>
                </a:solidFill>
                <a:latin typeface="Arial" pitchFamily="34" charset="0"/>
                <a:ea typeface="Arial" pitchFamily="34" charset="-122"/>
                <a:cs typeface="Arial" pitchFamily="34" charset="-120"/>
              </a:rPr>
              <a:t>Doubles surcharge exposure</a:t>
            </a:r>
            <a:endParaRPr lang="en-US" sz="1000" dirty="0"/>
          </a:p>
        </p:txBody>
      </p:sp>
      <p:sp>
        <p:nvSpPr>
          <p:cNvPr id="10" name="Shape 8"/>
          <p:cNvSpPr/>
          <p:nvPr/>
        </p:nvSpPr>
        <p:spPr>
          <a:xfrm>
            <a:off x="3566160" y="1371600"/>
            <a:ext cx="2560320" cy="2926080"/>
          </a:xfrm>
          <a:prstGeom prst="rect">
            <a:avLst/>
          </a:prstGeom>
          <a:solidFill>
            <a:srgbClr val="F0F4F8"/>
          </a:solidFill>
          <a:ln/>
        </p:spPr>
      </p:sp>
      <p:sp>
        <p:nvSpPr>
          <p:cNvPr id="11" name="Shape 9"/>
          <p:cNvSpPr/>
          <p:nvPr/>
        </p:nvSpPr>
        <p:spPr>
          <a:xfrm>
            <a:off x="3566160" y="1371600"/>
            <a:ext cx="2560320" cy="54864"/>
          </a:xfrm>
          <a:prstGeom prst="rect">
            <a:avLst/>
          </a:prstGeom>
          <a:solidFill>
            <a:srgbClr val="4DA8DA"/>
          </a:solidFill>
          <a:ln/>
        </p:spPr>
      </p:sp>
      <p:sp>
        <p:nvSpPr>
          <p:cNvPr id="12" name="Text 10"/>
          <p:cNvSpPr/>
          <p:nvPr/>
        </p:nvSpPr>
        <p:spPr>
          <a:xfrm>
            <a:off x="3749040" y="1554480"/>
            <a:ext cx="2194560" cy="274320"/>
          </a:xfrm>
          <a:prstGeom prst="rect">
            <a:avLst/>
          </a:prstGeom>
          <a:noFill/>
          <a:ln/>
        </p:spPr>
        <p:txBody>
          <a:bodyPr wrap="square" lIns="0" tIns="0" rIns="0" bIns="0" rtlCol="0" anchor="ctr"/>
          <a:lstStyle/>
          <a:p>
            <a:pPr marL="0" indent="0">
              <a:buNone/>
            </a:pPr>
            <a:r>
              <a:rPr lang="en-US" sz="1200" b="1" dirty="0">
                <a:solidFill>
                  <a:srgbClr val="1B3A5C"/>
                </a:solidFill>
                <a:latin typeface="Arial" pitchFamily="34" charset="0"/>
                <a:ea typeface="Arial" pitchFamily="34" charset="-122"/>
                <a:cs typeface="Arial" pitchFamily="34" charset="-120"/>
              </a:rPr>
              <a:t>Surcharge Pressure</a:t>
            </a:r>
            <a:endParaRPr lang="en-US" sz="1200" dirty="0"/>
          </a:p>
        </p:txBody>
      </p:sp>
      <p:sp>
        <p:nvSpPr>
          <p:cNvPr id="13" name="Text 11"/>
          <p:cNvSpPr/>
          <p:nvPr/>
        </p:nvSpPr>
        <p:spPr>
          <a:xfrm>
            <a:off x="3749040" y="1920240"/>
            <a:ext cx="2194560" cy="457200"/>
          </a:xfrm>
          <a:prstGeom prst="rect">
            <a:avLst/>
          </a:prstGeom>
          <a:noFill/>
          <a:ln/>
        </p:spPr>
        <p:txBody>
          <a:bodyPr wrap="square" lIns="0" tIns="0" rIns="0" bIns="0" rtlCol="0" anchor="ctr"/>
          <a:lstStyle/>
          <a:p>
            <a:pPr marL="0" indent="0">
              <a:buNone/>
            </a:pPr>
            <a:r>
              <a:rPr lang="en-US" sz="2200" b="1" dirty="0">
                <a:solidFill>
                  <a:srgbClr val="2C5F8A"/>
                </a:solidFill>
                <a:latin typeface="Georgia" pitchFamily="34" charset="0"/>
                <a:ea typeface="Georgia" pitchFamily="34" charset="-122"/>
                <a:cs typeface="Georgia" pitchFamily="34" charset="-120"/>
              </a:rPr>
              <a:t>$2.50-$5.00/kgal</a:t>
            </a:r>
            <a:endParaRPr lang="en-US" sz="2200" dirty="0"/>
          </a:p>
        </p:txBody>
      </p:sp>
      <p:sp>
        <p:nvSpPr>
          <p:cNvPr id="14" name="Text 12"/>
          <p:cNvSpPr/>
          <p:nvPr/>
        </p:nvSpPr>
        <p:spPr>
          <a:xfrm>
            <a:off x="3749040" y="2468880"/>
            <a:ext cx="2194560" cy="914400"/>
          </a:xfrm>
          <a:prstGeom prst="rect">
            <a:avLst/>
          </a:prstGeom>
          <a:noFill/>
          <a:ln/>
        </p:spPr>
        <p:txBody>
          <a:bodyPr wrap="square" lIns="0" tIns="0" rIns="0" bIns="0" rtlCol="0" anchor="ctr"/>
          <a:lstStyle/>
          <a:p>
            <a:pPr marL="0" indent="0">
              <a:lnSpc>
                <a:spcPct val="130000"/>
              </a:lnSpc>
              <a:buNone/>
            </a:pPr>
            <a:r>
              <a:rPr lang="en-US" sz="1000" dirty="0">
                <a:solidFill>
                  <a:srgbClr val="555555"/>
                </a:solidFill>
                <a:latin typeface="Arial" pitchFamily="34" charset="0"/>
                <a:ea typeface="Arial" pitchFamily="34" charset="-122"/>
                <a:cs typeface="Arial" pitchFamily="34" charset="-120"/>
              </a:rPr>
              <a:t>Harris County formula-based surcharges are the highest in the MSA. Pretreatment is cheaper.</a:t>
            </a:r>
            <a:endParaRPr lang="en-US" sz="1000" dirty="0"/>
          </a:p>
        </p:txBody>
      </p:sp>
      <p:sp>
        <p:nvSpPr>
          <p:cNvPr id="15" name="Text 13"/>
          <p:cNvSpPr/>
          <p:nvPr/>
        </p:nvSpPr>
        <p:spPr>
          <a:xfrm>
            <a:off x="3749040" y="3566160"/>
            <a:ext cx="2194560" cy="274320"/>
          </a:xfrm>
          <a:prstGeom prst="rect">
            <a:avLst/>
          </a:prstGeom>
          <a:noFill/>
          <a:ln/>
        </p:spPr>
        <p:txBody>
          <a:bodyPr wrap="square" lIns="0" tIns="0" rIns="0" bIns="0" rtlCol="0" anchor="ctr"/>
          <a:lstStyle/>
          <a:p>
            <a:pPr marL="0" indent="0">
              <a:buNone/>
            </a:pPr>
            <a:r>
              <a:rPr lang="en-US" sz="1000" b="1" i="1" dirty="0">
                <a:solidFill>
                  <a:srgbClr val="4DA8DA"/>
                </a:solidFill>
                <a:latin typeface="Arial" pitchFamily="34" charset="0"/>
                <a:ea typeface="Arial" pitchFamily="34" charset="-122"/>
                <a:cs typeface="Arial" pitchFamily="34" charset="-120"/>
              </a:rPr>
              <a:t>Direct economic incentive</a:t>
            </a:r>
            <a:endParaRPr lang="en-US" sz="1000" dirty="0"/>
          </a:p>
        </p:txBody>
      </p:sp>
      <p:sp>
        <p:nvSpPr>
          <p:cNvPr id="16" name="Shape 14"/>
          <p:cNvSpPr/>
          <p:nvPr/>
        </p:nvSpPr>
        <p:spPr>
          <a:xfrm>
            <a:off x="6400800" y="1371600"/>
            <a:ext cx="2560320" cy="2926080"/>
          </a:xfrm>
          <a:prstGeom prst="rect">
            <a:avLst/>
          </a:prstGeom>
          <a:solidFill>
            <a:srgbClr val="F0F4F8"/>
          </a:solidFill>
          <a:ln/>
        </p:spPr>
      </p:sp>
      <p:sp>
        <p:nvSpPr>
          <p:cNvPr id="17" name="Shape 15"/>
          <p:cNvSpPr/>
          <p:nvPr/>
        </p:nvSpPr>
        <p:spPr>
          <a:xfrm>
            <a:off x="6400800" y="1371600"/>
            <a:ext cx="2560320" cy="54864"/>
          </a:xfrm>
          <a:prstGeom prst="rect">
            <a:avLst/>
          </a:prstGeom>
          <a:solidFill>
            <a:srgbClr val="4DA8DA"/>
          </a:solidFill>
          <a:ln/>
        </p:spPr>
      </p:sp>
      <p:sp>
        <p:nvSpPr>
          <p:cNvPr id="18" name="Text 16"/>
          <p:cNvSpPr/>
          <p:nvPr/>
        </p:nvSpPr>
        <p:spPr>
          <a:xfrm>
            <a:off x="6583680" y="1554480"/>
            <a:ext cx="2194560" cy="274320"/>
          </a:xfrm>
          <a:prstGeom prst="rect">
            <a:avLst/>
          </a:prstGeom>
          <a:noFill/>
          <a:ln/>
        </p:spPr>
        <p:txBody>
          <a:bodyPr wrap="square" lIns="0" tIns="0" rIns="0" bIns="0" rtlCol="0" anchor="ctr"/>
          <a:lstStyle/>
          <a:p>
            <a:pPr marL="0" indent="0">
              <a:buNone/>
            </a:pPr>
            <a:r>
              <a:rPr lang="en-US" sz="1200" b="1" dirty="0">
                <a:solidFill>
                  <a:srgbClr val="1B3A5C"/>
                </a:solidFill>
                <a:latin typeface="Arial" pitchFamily="34" charset="0"/>
                <a:ea typeface="Arial" pitchFamily="34" charset="-122"/>
                <a:cs typeface="Arial" pitchFamily="34" charset="-120"/>
              </a:rPr>
              <a:t>EPA Consent Decree</a:t>
            </a:r>
            <a:endParaRPr lang="en-US" sz="1200" dirty="0"/>
          </a:p>
        </p:txBody>
      </p:sp>
      <p:sp>
        <p:nvSpPr>
          <p:cNvPr id="19" name="Text 17"/>
          <p:cNvSpPr/>
          <p:nvPr/>
        </p:nvSpPr>
        <p:spPr>
          <a:xfrm>
            <a:off x="6583680" y="1920240"/>
            <a:ext cx="2194560" cy="457200"/>
          </a:xfrm>
          <a:prstGeom prst="rect">
            <a:avLst/>
          </a:prstGeom>
          <a:noFill/>
          <a:ln/>
        </p:spPr>
        <p:txBody>
          <a:bodyPr wrap="square" lIns="0" tIns="0" rIns="0" bIns="0" rtlCol="0" anchor="ctr"/>
          <a:lstStyle/>
          <a:p>
            <a:pPr marL="0" indent="0">
              <a:buNone/>
            </a:pPr>
            <a:r>
              <a:rPr lang="en-US" sz="2200" b="1" dirty="0">
                <a:solidFill>
                  <a:srgbClr val="2C5F8A"/>
                </a:solidFill>
                <a:latin typeface="Georgia" pitchFamily="34" charset="0"/>
                <a:ea typeface="Georgia" pitchFamily="34" charset="-122"/>
                <a:cs typeface="Georgia" pitchFamily="34" charset="-120"/>
              </a:rPr>
              <a:t>$3-5 Billion</a:t>
            </a:r>
            <a:endParaRPr lang="en-US" sz="2200" dirty="0"/>
          </a:p>
        </p:txBody>
      </p:sp>
      <p:sp>
        <p:nvSpPr>
          <p:cNvPr id="20" name="Text 18"/>
          <p:cNvSpPr/>
          <p:nvPr/>
        </p:nvSpPr>
        <p:spPr>
          <a:xfrm>
            <a:off x="6583680" y="2468880"/>
            <a:ext cx="2194560" cy="914400"/>
          </a:xfrm>
          <a:prstGeom prst="rect">
            <a:avLst/>
          </a:prstGeom>
          <a:noFill/>
          <a:ln/>
        </p:spPr>
        <p:txBody>
          <a:bodyPr wrap="square" lIns="0" tIns="0" rIns="0" bIns="0" rtlCol="0" anchor="ctr"/>
          <a:lstStyle/>
          <a:p>
            <a:pPr marL="0" indent="0">
              <a:lnSpc>
                <a:spcPct val="130000"/>
              </a:lnSpc>
              <a:buNone/>
            </a:pPr>
            <a:r>
              <a:rPr lang="en-US" sz="1000" dirty="0">
                <a:solidFill>
                  <a:srgbClr val="555555"/>
                </a:solidFill>
                <a:latin typeface="Arial" pitchFamily="34" charset="0"/>
                <a:ea typeface="Arial" pitchFamily="34" charset="-122"/>
                <a:cs typeface="Arial" pitchFamily="34" charset="-120"/>
              </a:rPr>
              <a:t>Houston committed to fix CWA violations over 22 years. City welcomes pretreatment partners.</a:t>
            </a:r>
            <a:endParaRPr lang="en-US" sz="1000" dirty="0"/>
          </a:p>
        </p:txBody>
      </p:sp>
      <p:sp>
        <p:nvSpPr>
          <p:cNvPr id="21" name="Text 19"/>
          <p:cNvSpPr/>
          <p:nvPr/>
        </p:nvSpPr>
        <p:spPr>
          <a:xfrm>
            <a:off x="6583680" y="3566160"/>
            <a:ext cx="2194560" cy="274320"/>
          </a:xfrm>
          <a:prstGeom prst="rect">
            <a:avLst/>
          </a:prstGeom>
          <a:noFill/>
          <a:ln/>
        </p:spPr>
        <p:txBody>
          <a:bodyPr wrap="square" lIns="0" tIns="0" rIns="0" bIns="0" rtlCol="0" anchor="ctr"/>
          <a:lstStyle/>
          <a:p>
            <a:pPr marL="0" indent="0">
              <a:buNone/>
            </a:pPr>
            <a:r>
              <a:rPr lang="en-US" sz="1000" b="1" i="1" dirty="0">
                <a:solidFill>
                  <a:srgbClr val="4DA8DA"/>
                </a:solidFill>
                <a:latin typeface="Arial" pitchFamily="34" charset="0"/>
                <a:ea typeface="Arial" pitchFamily="34" charset="-122"/>
                <a:cs typeface="Arial" pitchFamily="34" charset="-120"/>
              </a:rPr>
              <a:t>Regulatory alignment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1F39EEB-C121-3A00-7221-32977917F98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3EAB865-4471-9BDE-E083-1BF5B40B4DC4}"/>
              </a:ext>
            </a:extLst>
          </p:cNvPr>
          <p:cNvSpPr/>
          <p:nvPr/>
        </p:nvSpPr>
        <p:spPr>
          <a:xfrm>
            <a:off x="731520" y="274320"/>
            <a:ext cx="8229600" cy="365760"/>
          </a:xfrm>
          <a:prstGeom prst="rect">
            <a:avLst/>
          </a:prstGeom>
          <a:noFill/>
          <a:ln/>
        </p:spPr>
        <p:txBody>
          <a:bodyPr wrap="square" lIns="0" tIns="0" rIns="0" bIns="0" rtlCol="0" anchor="ctr"/>
          <a:lstStyle/>
          <a:p>
            <a:r>
              <a:rPr lang="en-US" sz="1100" b="1" kern="0" spc="300" dirty="0">
                <a:solidFill>
                  <a:srgbClr val="4DA8DA"/>
                </a:solidFill>
                <a:latin typeface="Arial" pitchFamily="34" charset="0"/>
                <a:ea typeface="Arial" pitchFamily="34" charset="-122"/>
                <a:cs typeface="Arial" pitchFamily="34" charset="-120"/>
              </a:rPr>
              <a:t>FOG Chart</a:t>
            </a:r>
            <a:endParaRPr lang="en-US" sz="1100" dirty="0"/>
          </a:p>
        </p:txBody>
      </p:sp>
      <p:sp>
        <p:nvSpPr>
          <p:cNvPr id="28" name="Shape 26">
            <a:extLst>
              <a:ext uri="{FF2B5EF4-FFF2-40B4-BE49-F238E27FC236}">
                <a16:creationId xmlns:a16="http://schemas.microsoft.com/office/drawing/2014/main" id="{7C3A5ECE-7BB2-D521-3CDE-BDD322E24993}"/>
              </a:ext>
            </a:extLst>
          </p:cNvPr>
          <p:cNvSpPr/>
          <p:nvPr/>
        </p:nvSpPr>
        <p:spPr>
          <a:xfrm>
            <a:off x="615142" y="662940"/>
            <a:ext cx="7913716" cy="4010198"/>
          </a:xfrm>
          <a:prstGeom prst="rect">
            <a:avLst/>
          </a:prstGeom>
          <a:solidFill>
            <a:srgbClr val="F0F4F8"/>
          </a:solidFill>
          <a:ln/>
        </p:spPr>
      </p:sp>
      <p:sp>
        <p:nvSpPr>
          <p:cNvPr id="30" name="Text 28">
            <a:extLst>
              <a:ext uri="{FF2B5EF4-FFF2-40B4-BE49-F238E27FC236}">
                <a16:creationId xmlns:a16="http://schemas.microsoft.com/office/drawing/2014/main" id="{7DEF536F-F744-79F1-E53C-153625CD96D6}"/>
              </a:ext>
            </a:extLst>
          </p:cNvPr>
          <p:cNvSpPr/>
          <p:nvPr/>
        </p:nvSpPr>
        <p:spPr>
          <a:xfrm>
            <a:off x="1005840" y="3566160"/>
            <a:ext cx="7132320" cy="914400"/>
          </a:xfrm>
          <a:prstGeom prst="rect">
            <a:avLst/>
          </a:prstGeom>
          <a:noFill/>
          <a:ln/>
        </p:spPr>
        <p:txBody>
          <a:bodyPr wrap="square" lIns="0" tIns="0" rIns="0" bIns="0" rtlCol="0" anchor="ctr"/>
          <a:lstStyle/>
          <a:p>
            <a:pPr marL="0" indent="0">
              <a:lnSpc>
                <a:spcPct val="150000"/>
              </a:lnSpc>
              <a:buNone/>
            </a:pPr>
            <a:r>
              <a:rPr lang="en-US" sz="1000" dirty="0">
                <a:solidFill>
                  <a:srgbClr val="333333"/>
                </a:solidFill>
                <a:latin typeface="Arial" pitchFamily="34" charset="0"/>
                <a:ea typeface="Arial" pitchFamily="34" charset="-122"/>
                <a:cs typeface="Arial" pitchFamily="34" charset="-120"/>
              </a:rPr>
              <a:t>.</a:t>
            </a:r>
            <a:endParaRPr lang="en-US" sz="1000" dirty="0"/>
          </a:p>
        </p:txBody>
      </p:sp>
      <p:pic>
        <p:nvPicPr>
          <p:cNvPr id="4" name="Picture 3">
            <a:extLst>
              <a:ext uri="{FF2B5EF4-FFF2-40B4-BE49-F238E27FC236}">
                <a16:creationId xmlns:a16="http://schemas.microsoft.com/office/drawing/2014/main" id="{1C59DEC6-345F-D3E1-A905-50F5C216C198}"/>
              </a:ext>
            </a:extLst>
          </p:cNvPr>
          <p:cNvPicPr>
            <a:picLocks noChangeAspect="1"/>
          </p:cNvPicPr>
          <p:nvPr/>
        </p:nvPicPr>
        <p:blipFill>
          <a:blip r:embed="rId3"/>
          <a:stretch>
            <a:fillRect/>
          </a:stretch>
        </p:blipFill>
        <p:spPr>
          <a:xfrm>
            <a:off x="1398034" y="806334"/>
            <a:ext cx="6347932" cy="3723409"/>
          </a:xfrm>
          <a:prstGeom prst="rect">
            <a:avLst/>
          </a:prstGeom>
          <a:ln>
            <a:solidFill>
              <a:schemeClr val="tx2">
                <a:lumMod val="75000"/>
              </a:schemeClr>
            </a:solidFill>
          </a:ln>
        </p:spPr>
      </p:pic>
    </p:spTree>
    <p:extLst>
      <p:ext uri="{BB962C8B-B14F-4D97-AF65-F5344CB8AC3E}">
        <p14:creationId xmlns:p14="http://schemas.microsoft.com/office/powerpoint/2010/main" val="73154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74320"/>
            <a:ext cx="8229600" cy="365760"/>
          </a:xfrm>
          <a:prstGeom prst="rect">
            <a:avLst/>
          </a:prstGeom>
          <a:noFill/>
          <a:ln/>
        </p:spPr>
        <p:txBody>
          <a:bodyPr wrap="square" lIns="0" tIns="0" rIns="0" bIns="0" rtlCol="0" anchor="ctr"/>
          <a:lstStyle/>
          <a:p>
            <a:pPr marL="0" indent="0">
              <a:buNone/>
            </a:pPr>
            <a:r>
              <a:rPr lang="en-US" sz="1100" b="1" kern="0" spc="300" dirty="0">
                <a:solidFill>
                  <a:srgbClr val="4DA8DA"/>
                </a:solidFill>
                <a:latin typeface="Arial" pitchFamily="34" charset="0"/>
                <a:ea typeface="Arial" pitchFamily="34" charset="-122"/>
                <a:cs typeface="Arial" pitchFamily="34" charset="-120"/>
              </a:rPr>
              <a:t>PRIMARY OPPORTUNITY</a:t>
            </a:r>
            <a:endParaRPr lang="en-US" sz="1100" dirty="0"/>
          </a:p>
        </p:txBody>
      </p:sp>
      <p:sp>
        <p:nvSpPr>
          <p:cNvPr id="3" name="Text 1"/>
          <p:cNvSpPr/>
          <p:nvPr/>
        </p:nvSpPr>
        <p:spPr>
          <a:xfrm>
            <a:off x="731520" y="640080"/>
            <a:ext cx="7315200" cy="548640"/>
          </a:xfrm>
          <a:prstGeom prst="rect">
            <a:avLst/>
          </a:prstGeom>
          <a:noFill/>
          <a:ln/>
        </p:spPr>
        <p:txBody>
          <a:bodyPr wrap="square" lIns="0" tIns="0" rIns="0" bIns="0" rtlCol="0" anchor="ctr"/>
          <a:lstStyle/>
          <a:p>
            <a:pPr marL="0" indent="0">
              <a:buNone/>
            </a:pPr>
            <a:r>
              <a:rPr lang="en-US" sz="2400" b="1" dirty="0">
                <a:solidFill>
                  <a:srgbClr val="1B3A5C"/>
                </a:solidFill>
                <a:latin typeface="Georgia" pitchFamily="34" charset="0"/>
                <a:ea typeface="Georgia" pitchFamily="34" charset="-122"/>
                <a:cs typeface="Georgia" pitchFamily="34" charset="-120"/>
              </a:rPr>
              <a:t>Fort Bend County: Highest immediate ROI</a:t>
            </a:r>
            <a:endParaRPr lang="en-US" sz="2400" dirty="0"/>
          </a:p>
        </p:txBody>
      </p:sp>
      <p:sp>
        <p:nvSpPr>
          <p:cNvPr id="4" name="Text 2"/>
          <p:cNvSpPr/>
          <p:nvPr/>
        </p:nvSpPr>
        <p:spPr>
          <a:xfrm>
            <a:off x="731520" y="1371600"/>
            <a:ext cx="1920240" cy="548640"/>
          </a:xfrm>
          <a:prstGeom prst="rect">
            <a:avLst/>
          </a:prstGeom>
          <a:noFill/>
          <a:ln/>
        </p:spPr>
        <p:txBody>
          <a:bodyPr wrap="square" lIns="0" tIns="0" rIns="0" bIns="0" rtlCol="0" anchor="ctr"/>
          <a:lstStyle/>
          <a:p>
            <a:pPr marL="0" indent="0" algn="ctr">
              <a:buNone/>
            </a:pPr>
            <a:r>
              <a:rPr lang="en-US" sz="2800" b="1" dirty="0">
                <a:solidFill>
                  <a:srgbClr val="2C5F8A"/>
                </a:solidFill>
                <a:latin typeface="Georgia" pitchFamily="34" charset="0"/>
                <a:ea typeface="Georgia" pitchFamily="34" charset="-122"/>
                <a:cs typeface="Georgia" pitchFamily="34" charset="-120"/>
              </a:rPr>
              <a:t>1,522</a:t>
            </a:r>
            <a:endParaRPr lang="en-US" sz="2800" dirty="0"/>
          </a:p>
        </p:txBody>
      </p:sp>
      <p:sp>
        <p:nvSpPr>
          <p:cNvPr id="5" name="Text 3"/>
          <p:cNvSpPr/>
          <p:nvPr/>
        </p:nvSpPr>
        <p:spPr>
          <a:xfrm>
            <a:off x="731520" y="1920240"/>
            <a:ext cx="1920240" cy="457200"/>
          </a:xfrm>
          <a:prstGeom prst="rect">
            <a:avLst/>
          </a:prstGeom>
          <a:noFill/>
          <a:ln/>
        </p:spPr>
        <p:txBody>
          <a:bodyPr wrap="square" lIns="0" tIns="0" rIns="0" bIns="0" rtlCol="0" anchor="ctr"/>
          <a:lstStyle/>
          <a:p>
            <a:pPr marL="0" indent="0" algn="ctr">
              <a:lnSpc>
                <a:spcPct val="120000"/>
              </a:lnSpc>
              <a:buNone/>
            </a:pPr>
            <a:r>
              <a:rPr lang="en-US" sz="1000" dirty="0">
                <a:solidFill>
                  <a:srgbClr val="7F8C8D"/>
                </a:solidFill>
                <a:latin typeface="Arial" pitchFamily="34" charset="0"/>
                <a:ea typeface="Arial" pitchFamily="34" charset="-122"/>
                <a:cs typeface="Arial" pitchFamily="34" charset="-120"/>
              </a:rPr>
              <a:t>Food</a:t>
            </a:r>
            <a:endParaRPr lang="en-US" sz="1000" dirty="0"/>
          </a:p>
          <a:p>
            <a:pPr marL="0" indent="0" algn="ctr">
              <a:lnSpc>
                <a:spcPct val="120000"/>
              </a:lnSpc>
              <a:buNone/>
            </a:pPr>
            <a:r>
              <a:rPr lang="en-US" sz="1000" dirty="0">
                <a:solidFill>
                  <a:srgbClr val="7F8C8D"/>
                </a:solidFill>
                <a:latin typeface="Arial" pitchFamily="34" charset="0"/>
                <a:ea typeface="Arial" pitchFamily="34" charset="-122"/>
                <a:cs typeface="Arial" pitchFamily="34" charset="-120"/>
              </a:rPr>
              <a:t>Establishments</a:t>
            </a:r>
            <a:endParaRPr lang="en-US" sz="1000" dirty="0"/>
          </a:p>
        </p:txBody>
      </p:sp>
      <p:sp>
        <p:nvSpPr>
          <p:cNvPr id="6" name="Text 4"/>
          <p:cNvSpPr/>
          <p:nvPr/>
        </p:nvSpPr>
        <p:spPr>
          <a:xfrm>
            <a:off x="2834640" y="1371600"/>
            <a:ext cx="1920240" cy="548640"/>
          </a:xfrm>
          <a:prstGeom prst="rect">
            <a:avLst/>
          </a:prstGeom>
          <a:noFill/>
          <a:ln/>
        </p:spPr>
        <p:txBody>
          <a:bodyPr wrap="square" lIns="0" tIns="0" rIns="0" bIns="0" rtlCol="0" anchor="ctr"/>
          <a:lstStyle/>
          <a:p>
            <a:pPr marL="0" indent="0" algn="ctr">
              <a:buNone/>
            </a:pPr>
            <a:r>
              <a:rPr lang="en-US" sz="2800" b="1" dirty="0">
                <a:solidFill>
                  <a:srgbClr val="2C5F8A"/>
                </a:solidFill>
                <a:latin typeface="Georgia" pitchFamily="34" charset="0"/>
                <a:ea typeface="Georgia" pitchFamily="34" charset="-122"/>
                <a:cs typeface="Georgia" pitchFamily="34" charset="-120"/>
              </a:rPr>
              <a:t>870K</a:t>
            </a:r>
            <a:endParaRPr lang="en-US" sz="2800" dirty="0"/>
          </a:p>
        </p:txBody>
      </p:sp>
      <p:sp>
        <p:nvSpPr>
          <p:cNvPr id="7" name="Text 5"/>
          <p:cNvSpPr/>
          <p:nvPr/>
        </p:nvSpPr>
        <p:spPr>
          <a:xfrm>
            <a:off x="2834640" y="1920240"/>
            <a:ext cx="1920240" cy="457200"/>
          </a:xfrm>
          <a:prstGeom prst="rect">
            <a:avLst/>
          </a:prstGeom>
          <a:noFill/>
          <a:ln/>
        </p:spPr>
        <p:txBody>
          <a:bodyPr wrap="square" lIns="0" tIns="0" rIns="0" bIns="0" rtlCol="0" anchor="ctr"/>
          <a:lstStyle/>
          <a:p>
            <a:pPr marL="0" indent="0" algn="ctr">
              <a:lnSpc>
                <a:spcPct val="120000"/>
              </a:lnSpc>
              <a:buNone/>
            </a:pPr>
            <a:r>
              <a:rPr lang="en-US" sz="1000" dirty="0">
                <a:solidFill>
                  <a:srgbClr val="7F8C8D"/>
                </a:solidFill>
                <a:latin typeface="Arial" pitchFamily="34" charset="0"/>
                <a:ea typeface="Arial" pitchFamily="34" charset="-122"/>
                <a:cs typeface="Arial" pitchFamily="34" charset="-120"/>
              </a:rPr>
              <a:t>Population</a:t>
            </a:r>
            <a:endParaRPr lang="en-US" sz="1000" dirty="0"/>
          </a:p>
        </p:txBody>
      </p:sp>
      <p:sp>
        <p:nvSpPr>
          <p:cNvPr id="8" name="Text 6"/>
          <p:cNvSpPr/>
          <p:nvPr/>
        </p:nvSpPr>
        <p:spPr>
          <a:xfrm>
            <a:off x="4937760" y="1371600"/>
            <a:ext cx="1920240" cy="548640"/>
          </a:xfrm>
          <a:prstGeom prst="rect">
            <a:avLst/>
          </a:prstGeom>
          <a:noFill/>
          <a:ln/>
        </p:spPr>
        <p:txBody>
          <a:bodyPr wrap="square" lIns="0" tIns="0" rIns="0" bIns="0" rtlCol="0" anchor="ctr"/>
          <a:lstStyle/>
          <a:p>
            <a:pPr marL="0" indent="0" algn="ctr">
              <a:buNone/>
            </a:pPr>
            <a:r>
              <a:rPr lang="en-US" sz="2800" b="1" dirty="0">
                <a:solidFill>
                  <a:srgbClr val="C0392B"/>
                </a:solidFill>
                <a:latin typeface="Georgia" pitchFamily="34" charset="0"/>
                <a:ea typeface="Georgia" pitchFamily="34" charset="-122"/>
                <a:cs typeface="Georgia" pitchFamily="34" charset="-120"/>
              </a:rPr>
              <a:t>0</a:t>
            </a:r>
            <a:endParaRPr lang="en-US" sz="2800" dirty="0"/>
          </a:p>
        </p:txBody>
      </p:sp>
      <p:sp>
        <p:nvSpPr>
          <p:cNvPr id="9" name="Text 7"/>
          <p:cNvSpPr/>
          <p:nvPr/>
        </p:nvSpPr>
        <p:spPr>
          <a:xfrm>
            <a:off x="4937760" y="1920240"/>
            <a:ext cx="1920240" cy="457200"/>
          </a:xfrm>
          <a:prstGeom prst="rect">
            <a:avLst/>
          </a:prstGeom>
          <a:noFill/>
          <a:ln/>
        </p:spPr>
        <p:txBody>
          <a:bodyPr wrap="square" lIns="0" tIns="0" rIns="0" bIns="0" rtlCol="0" anchor="ctr"/>
          <a:lstStyle/>
          <a:p>
            <a:pPr marL="0" indent="0" algn="ctr">
              <a:lnSpc>
                <a:spcPct val="120000"/>
              </a:lnSpc>
              <a:buNone/>
            </a:pPr>
            <a:r>
              <a:rPr lang="en-US" sz="1000" dirty="0">
                <a:solidFill>
                  <a:srgbClr val="7F8C8D"/>
                </a:solidFill>
                <a:latin typeface="Arial" pitchFamily="34" charset="0"/>
                <a:ea typeface="Arial" pitchFamily="34" charset="-122"/>
                <a:cs typeface="Arial" pitchFamily="34" charset="-120"/>
              </a:rPr>
              <a:t>5GG</a:t>
            </a:r>
            <a:endParaRPr lang="en-US" sz="1000" dirty="0"/>
          </a:p>
          <a:p>
            <a:pPr marL="0" indent="0" algn="ctr">
              <a:lnSpc>
                <a:spcPct val="120000"/>
              </a:lnSpc>
              <a:buNone/>
            </a:pPr>
            <a:r>
              <a:rPr lang="en-US" sz="1000" dirty="0">
                <a:solidFill>
                  <a:srgbClr val="7F8C8D"/>
                </a:solidFill>
                <a:latin typeface="Arial" pitchFamily="34" charset="0"/>
                <a:ea typeface="Arial" pitchFamily="34" charset="-122"/>
                <a:cs typeface="Arial" pitchFamily="34" charset="-120"/>
              </a:rPr>
              <a:t>Facilities</a:t>
            </a:r>
            <a:endParaRPr lang="en-US" sz="1000" dirty="0"/>
          </a:p>
        </p:txBody>
      </p:sp>
      <p:sp>
        <p:nvSpPr>
          <p:cNvPr id="10" name="Text 8"/>
          <p:cNvSpPr/>
          <p:nvPr/>
        </p:nvSpPr>
        <p:spPr>
          <a:xfrm>
            <a:off x="7040880" y="1371600"/>
            <a:ext cx="1920240" cy="548640"/>
          </a:xfrm>
          <a:prstGeom prst="rect">
            <a:avLst/>
          </a:prstGeom>
          <a:noFill/>
          <a:ln/>
        </p:spPr>
        <p:txBody>
          <a:bodyPr wrap="square" lIns="0" tIns="0" rIns="0" bIns="0" rtlCol="0" anchor="ctr"/>
          <a:lstStyle/>
          <a:p>
            <a:pPr marL="0" indent="0" algn="ctr">
              <a:buNone/>
            </a:pPr>
            <a:r>
              <a:rPr lang="en-US" sz="2800" b="1" dirty="0">
                <a:solidFill>
                  <a:srgbClr val="2C5F8A"/>
                </a:solidFill>
                <a:latin typeface="Georgia" pitchFamily="34" charset="0"/>
                <a:ea typeface="Georgia" pitchFamily="34" charset="-122"/>
                <a:cs typeface="Georgia" pitchFamily="34" charset="-120"/>
              </a:rPr>
              <a:t>10-17mi</a:t>
            </a:r>
            <a:endParaRPr lang="en-US" sz="2800" dirty="0"/>
          </a:p>
        </p:txBody>
      </p:sp>
      <p:sp>
        <p:nvSpPr>
          <p:cNvPr id="11" name="Text 9"/>
          <p:cNvSpPr/>
          <p:nvPr/>
        </p:nvSpPr>
        <p:spPr>
          <a:xfrm>
            <a:off x="7040880" y="1920240"/>
            <a:ext cx="1920240" cy="457200"/>
          </a:xfrm>
          <a:prstGeom prst="rect">
            <a:avLst/>
          </a:prstGeom>
          <a:noFill/>
          <a:ln/>
        </p:spPr>
        <p:txBody>
          <a:bodyPr wrap="square" lIns="0" tIns="0" rIns="0" bIns="0" rtlCol="0" anchor="ctr"/>
          <a:lstStyle/>
          <a:p>
            <a:pPr marL="0" indent="0" algn="ctr">
              <a:lnSpc>
                <a:spcPct val="120000"/>
              </a:lnSpc>
              <a:buNone/>
            </a:pPr>
            <a:r>
              <a:rPr lang="en-US" sz="1000" dirty="0">
                <a:solidFill>
                  <a:srgbClr val="7F8C8D"/>
                </a:solidFill>
                <a:latin typeface="Arial" pitchFamily="34" charset="0"/>
                <a:ea typeface="Arial" pitchFamily="34" charset="-122"/>
                <a:cs typeface="Arial" pitchFamily="34" charset="-120"/>
              </a:rPr>
              <a:t>Disposal</a:t>
            </a:r>
            <a:endParaRPr lang="en-US" sz="1000" dirty="0"/>
          </a:p>
          <a:p>
            <a:pPr marL="0" indent="0" algn="ctr">
              <a:lnSpc>
                <a:spcPct val="120000"/>
              </a:lnSpc>
              <a:buNone/>
            </a:pPr>
            <a:r>
              <a:rPr lang="en-US" sz="1000" dirty="0">
                <a:solidFill>
                  <a:srgbClr val="7F8C8D"/>
                </a:solidFill>
                <a:latin typeface="Arial" pitchFamily="34" charset="0"/>
                <a:ea typeface="Arial" pitchFamily="34" charset="-122"/>
                <a:cs typeface="Arial" pitchFamily="34" charset="-120"/>
              </a:rPr>
              <a:t>Distance</a:t>
            </a:r>
            <a:endParaRPr lang="en-US" sz="1000" dirty="0"/>
          </a:p>
        </p:txBody>
      </p:sp>
      <p:sp>
        <p:nvSpPr>
          <p:cNvPr id="12" name="Shape 10"/>
          <p:cNvSpPr/>
          <p:nvPr/>
        </p:nvSpPr>
        <p:spPr>
          <a:xfrm>
            <a:off x="731520" y="2560320"/>
            <a:ext cx="7680960" cy="2103120"/>
          </a:xfrm>
          <a:prstGeom prst="rect">
            <a:avLst/>
          </a:prstGeom>
          <a:solidFill>
            <a:srgbClr val="F0F4F8"/>
          </a:solidFill>
          <a:ln/>
        </p:spPr>
      </p:sp>
      <p:sp>
        <p:nvSpPr>
          <p:cNvPr id="13" name="Text 11"/>
          <p:cNvSpPr/>
          <p:nvPr/>
        </p:nvSpPr>
        <p:spPr>
          <a:xfrm>
            <a:off x="1005840" y="2651760"/>
            <a:ext cx="7315200" cy="274320"/>
          </a:xfrm>
          <a:prstGeom prst="rect">
            <a:avLst/>
          </a:prstGeom>
          <a:noFill/>
          <a:ln/>
        </p:spPr>
        <p:txBody>
          <a:bodyPr wrap="square" lIns="0" tIns="0" rIns="0" bIns="0" rtlCol="0" anchor="ctr"/>
          <a:lstStyle/>
          <a:p>
            <a:pPr marL="0" indent="0">
              <a:buNone/>
            </a:pPr>
            <a:r>
              <a:rPr lang="en-US" sz="1300" b="1" dirty="0">
                <a:solidFill>
                  <a:srgbClr val="1B3A5C"/>
                </a:solidFill>
                <a:latin typeface="Arial" pitchFamily="34" charset="0"/>
                <a:ea typeface="Arial" pitchFamily="34" charset="-122"/>
                <a:cs typeface="Arial" pitchFamily="34" charset="-120"/>
              </a:rPr>
              <a:t>Why Fort Bend First</a:t>
            </a:r>
            <a:endParaRPr lang="en-US" sz="1300" dirty="0"/>
          </a:p>
        </p:txBody>
      </p:sp>
      <p:sp>
        <p:nvSpPr>
          <p:cNvPr id="14" name="Text 12"/>
          <p:cNvSpPr/>
          <p:nvPr/>
        </p:nvSpPr>
        <p:spPr>
          <a:xfrm>
            <a:off x="1005840" y="3017520"/>
            <a:ext cx="7132320" cy="1463040"/>
          </a:xfrm>
          <a:prstGeom prst="rect">
            <a:avLst/>
          </a:prstGeom>
          <a:noFill/>
          <a:ln/>
        </p:spPr>
        <p:txBody>
          <a:bodyPr wrap="square" lIns="0" tIns="0" rIns="0" bIns="0" rtlCol="0" anchor="ctr"/>
          <a:lstStyle/>
          <a:p>
            <a:pPr marL="0" indent="0">
              <a:lnSpc>
                <a:spcPct val="140000"/>
              </a:lnSpc>
              <a:buNone/>
            </a:pPr>
            <a:r>
              <a:rPr lang="en-US" sz="1100" b="1" dirty="0">
                <a:solidFill>
                  <a:srgbClr val="C0392B"/>
                </a:solidFill>
                <a:latin typeface="Arial" pitchFamily="34" charset="0"/>
                <a:ea typeface="Arial" pitchFamily="34" charset="-122"/>
                <a:cs typeface="Arial" pitchFamily="34" charset="-120"/>
              </a:rPr>
              <a:t>Zero 5GG competitors</a:t>
            </a:r>
            <a:endParaRPr lang="en-US" sz="1100" dirty="0"/>
          </a:p>
          <a:p>
            <a:pPr marL="0" indent="0">
              <a:lnSpc>
                <a:spcPct val="140000"/>
              </a:lnSpc>
              <a:buNone/>
            </a:pPr>
            <a:r>
              <a:rPr lang="en-US" sz="1100" dirty="0">
                <a:solidFill>
                  <a:srgbClr val="444444"/>
                </a:solidFill>
                <a:latin typeface="Arial" pitchFamily="34" charset="0"/>
                <a:ea typeface="Arial" pitchFamily="34" charset="-122"/>
                <a:cs typeface="Arial" pitchFamily="34" charset="-120"/>
              </a:rPr>
              <a:t xml:space="preserve"> — only a single 5TL transfer station exists. No pretreatment processing.
</a:t>
            </a:r>
            <a:r>
              <a:rPr lang="en-US" sz="1100" b="1" dirty="0">
                <a:solidFill>
                  <a:srgbClr val="2C5F8A"/>
                </a:solidFill>
                <a:latin typeface="Arial" pitchFamily="34" charset="0"/>
                <a:ea typeface="Arial" pitchFamily="34" charset="-122"/>
                <a:cs typeface="Arial" pitchFamily="34" charset="-120"/>
              </a:rPr>
              <a:t>Surcharge pressure building</a:t>
            </a:r>
            <a:endParaRPr lang="en-US" sz="1100" dirty="0"/>
          </a:p>
          <a:p>
            <a:pPr marL="0" indent="0">
              <a:lnSpc>
                <a:spcPct val="140000"/>
              </a:lnSpc>
              <a:buNone/>
            </a:pPr>
            <a:r>
              <a:rPr lang="en-US" sz="1100" dirty="0">
                <a:solidFill>
                  <a:srgbClr val="444444"/>
                </a:solidFill>
                <a:latin typeface="Arial" pitchFamily="34" charset="0"/>
                <a:ea typeface="Arial" pitchFamily="34" charset="-122"/>
                <a:cs typeface="Arial" pitchFamily="34" charset="-120"/>
              </a:rPr>
              <a:t xml:space="preserve"> — $2.00-$4.00/kgal with 250 mg/L FOG limit. Moderate but growing.
</a:t>
            </a:r>
            <a:r>
              <a:rPr lang="en-US" sz="1100" b="1" dirty="0">
                <a:solidFill>
                  <a:srgbClr val="2C5F8A"/>
                </a:solidFill>
                <a:latin typeface="Arial" pitchFamily="34" charset="0"/>
                <a:ea typeface="Arial" pitchFamily="34" charset="-122"/>
                <a:cs typeface="Arial" pitchFamily="34" charset="-120"/>
              </a:rPr>
              <a:t>Rapid population growth</a:t>
            </a:r>
            <a:endParaRPr lang="en-US" sz="1100" dirty="0"/>
          </a:p>
          <a:p>
            <a:pPr marL="0" indent="0">
              <a:lnSpc>
                <a:spcPct val="140000"/>
              </a:lnSpc>
              <a:buNone/>
            </a:pPr>
            <a:r>
              <a:rPr lang="en-US" sz="1100" dirty="0">
                <a:solidFill>
                  <a:srgbClr val="444444"/>
                </a:solidFill>
                <a:latin typeface="Arial" pitchFamily="34" charset="0"/>
                <a:ea typeface="Arial" pitchFamily="34" charset="-122"/>
                <a:cs typeface="Arial" pitchFamily="34" charset="-120"/>
              </a:rPr>
              <a:t xml:space="preserve"> — Sugar Land, Missouri City, Rosenberg expanding. More restaurants coming.
</a:t>
            </a:r>
            <a:r>
              <a:rPr lang="en-US" sz="1100" b="1" dirty="0">
                <a:solidFill>
                  <a:srgbClr val="2C5F8A"/>
                </a:solidFill>
                <a:latin typeface="Arial" pitchFamily="34" charset="0"/>
                <a:ea typeface="Arial" pitchFamily="34" charset="-122"/>
                <a:cs typeface="Arial" pitchFamily="34" charset="-120"/>
              </a:rPr>
              <a:t>Haulers already driving into Harris</a:t>
            </a:r>
            <a:endParaRPr lang="en-US" sz="1100" dirty="0"/>
          </a:p>
          <a:p>
            <a:pPr marL="0" indent="0">
              <a:lnSpc>
                <a:spcPct val="140000"/>
              </a:lnSpc>
              <a:buNone/>
            </a:pPr>
            <a:r>
              <a:rPr lang="en-US" sz="1100" dirty="0">
                <a:solidFill>
                  <a:srgbClr val="444444"/>
                </a:solidFill>
                <a:latin typeface="Arial" pitchFamily="34" charset="0"/>
                <a:ea typeface="Arial" pitchFamily="34" charset="-122"/>
                <a:cs typeface="Arial" pitchFamily="34" charset="-120"/>
              </a:rPr>
              <a:t xml:space="preserve"> — 10-17 miles each way. A local pretreatment facility saves fuel, time, and money.</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74320"/>
            <a:ext cx="8229600" cy="365760"/>
          </a:xfrm>
          <a:prstGeom prst="rect">
            <a:avLst/>
          </a:prstGeom>
          <a:noFill/>
          <a:ln/>
        </p:spPr>
        <p:txBody>
          <a:bodyPr wrap="square" lIns="0" tIns="0" rIns="0" bIns="0" rtlCol="0" anchor="ctr"/>
          <a:lstStyle/>
          <a:p>
            <a:pPr marL="0" indent="0">
              <a:buNone/>
            </a:pPr>
            <a:r>
              <a:rPr lang="en-US" sz="1100" b="1" kern="0" spc="300" dirty="0">
                <a:solidFill>
                  <a:srgbClr val="4DA8DA"/>
                </a:solidFill>
                <a:latin typeface="Arial" pitchFamily="34" charset="0"/>
                <a:ea typeface="Arial" pitchFamily="34" charset="-122"/>
                <a:cs typeface="Arial" pitchFamily="34" charset="-120"/>
              </a:rPr>
              <a:t>SECONDARY &amp; EMERGING OPPORTUNITIES</a:t>
            </a:r>
            <a:endParaRPr lang="en-US" sz="1100" dirty="0"/>
          </a:p>
        </p:txBody>
      </p:sp>
      <p:sp>
        <p:nvSpPr>
          <p:cNvPr id="3" name="Text 1"/>
          <p:cNvSpPr/>
          <p:nvPr/>
        </p:nvSpPr>
        <p:spPr>
          <a:xfrm>
            <a:off x="731520" y="640080"/>
            <a:ext cx="7315200" cy="548640"/>
          </a:xfrm>
          <a:prstGeom prst="rect">
            <a:avLst/>
          </a:prstGeom>
          <a:noFill/>
          <a:ln/>
        </p:spPr>
        <p:txBody>
          <a:bodyPr wrap="square" lIns="0" tIns="0" rIns="0" bIns="0" rtlCol="0" anchor="ctr"/>
          <a:lstStyle/>
          <a:p>
            <a:pPr marL="0" indent="0">
              <a:buNone/>
            </a:pPr>
            <a:r>
              <a:rPr lang="en-US" sz="2400" b="1" dirty="0">
                <a:solidFill>
                  <a:srgbClr val="1B3A5C"/>
                </a:solidFill>
                <a:latin typeface="Georgia" pitchFamily="34" charset="0"/>
                <a:ea typeface="Georgia" pitchFamily="34" charset="-122"/>
                <a:cs typeface="Georgia" pitchFamily="34" charset="-120"/>
              </a:rPr>
              <a:t>Three additional markets with zero competitors</a:t>
            </a:r>
            <a:endParaRPr lang="en-US" sz="2400" dirty="0"/>
          </a:p>
        </p:txBody>
      </p:sp>
      <p:sp>
        <p:nvSpPr>
          <p:cNvPr id="4" name="Shape 2"/>
          <p:cNvSpPr/>
          <p:nvPr/>
        </p:nvSpPr>
        <p:spPr>
          <a:xfrm>
            <a:off x="731520" y="1371600"/>
            <a:ext cx="7680960" cy="1097280"/>
          </a:xfrm>
          <a:prstGeom prst="rect">
            <a:avLst/>
          </a:prstGeom>
          <a:solidFill>
            <a:srgbClr val="F0F4F8"/>
          </a:solidFill>
          <a:ln/>
        </p:spPr>
      </p:sp>
      <p:sp>
        <p:nvSpPr>
          <p:cNvPr id="5" name="Shape 3"/>
          <p:cNvSpPr/>
          <p:nvPr/>
        </p:nvSpPr>
        <p:spPr>
          <a:xfrm>
            <a:off x="731520" y="1371600"/>
            <a:ext cx="73152" cy="1097280"/>
          </a:xfrm>
          <a:prstGeom prst="rect">
            <a:avLst/>
          </a:prstGeom>
          <a:solidFill>
            <a:srgbClr val="C0392B"/>
          </a:solidFill>
          <a:ln/>
        </p:spPr>
      </p:sp>
      <p:sp>
        <p:nvSpPr>
          <p:cNvPr id="6" name="Text 4"/>
          <p:cNvSpPr/>
          <p:nvPr/>
        </p:nvSpPr>
        <p:spPr>
          <a:xfrm>
            <a:off x="1097280" y="1417320"/>
            <a:ext cx="4572000" cy="274320"/>
          </a:xfrm>
          <a:prstGeom prst="rect">
            <a:avLst/>
          </a:prstGeom>
          <a:noFill/>
          <a:ln/>
        </p:spPr>
        <p:txBody>
          <a:bodyPr wrap="square" lIns="0" tIns="0" rIns="0" bIns="0" rtlCol="0" anchor="ctr"/>
          <a:lstStyle/>
          <a:p>
            <a:pPr marL="0" indent="0">
              <a:buNone/>
            </a:pPr>
            <a:r>
              <a:rPr lang="en-US" sz="1300" b="1" dirty="0">
                <a:solidFill>
                  <a:srgbClr val="1B3A5C"/>
                </a:solidFill>
                <a:latin typeface="Arial" pitchFamily="34" charset="0"/>
                <a:ea typeface="Arial" pitchFamily="34" charset="-122"/>
                <a:cs typeface="Arial" pitchFamily="34" charset="-120"/>
              </a:rPr>
              <a:t>Montgomery County (The Woodlands / Conroe)</a:t>
            </a:r>
            <a:endParaRPr lang="en-US" sz="1300" dirty="0"/>
          </a:p>
        </p:txBody>
      </p:sp>
      <p:sp>
        <p:nvSpPr>
          <p:cNvPr id="7" name="Text 5"/>
          <p:cNvSpPr/>
          <p:nvPr/>
        </p:nvSpPr>
        <p:spPr>
          <a:xfrm>
            <a:off x="1097280" y="1691640"/>
            <a:ext cx="7132320" cy="274320"/>
          </a:xfrm>
          <a:prstGeom prst="rect">
            <a:avLst/>
          </a:prstGeom>
          <a:noFill/>
          <a:ln/>
        </p:spPr>
        <p:txBody>
          <a:bodyPr wrap="square" lIns="0" tIns="0" rIns="0" bIns="0" rtlCol="0" anchor="ctr"/>
          <a:lstStyle/>
          <a:p>
            <a:pPr marL="0" indent="0">
              <a:buNone/>
            </a:pPr>
            <a:r>
              <a:rPr lang="en-US" sz="1000" dirty="0">
                <a:solidFill>
                  <a:srgbClr val="555555"/>
                </a:solidFill>
                <a:latin typeface="Arial" pitchFamily="34" charset="0"/>
                <a:ea typeface="Arial" pitchFamily="34" charset="-122"/>
                <a:cs typeface="Arial" pitchFamily="34" charset="-120"/>
              </a:rPr>
              <a:t>1,199 establishments | 650K+ population | Zero 5GG | Avg 26 mi to disposal | $2.00-$4.50/kgal | 250 mg/L FOG</a:t>
            </a:r>
            <a:endParaRPr lang="en-US" sz="1000" dirty="0"/>
          </a:p>
        </p:txBody>
      </p:sp>
      <p:sp>
        <p:nvSpPr>
          <p:cNvPr id="8" name="Text 6"/>
          <p:cNvSpPr/>
          <p:nvPr/>
        </p:nvSpPr>
        <p:spPr>
          <a:xfrm>
            <a:off x="1097280" y="2011680"/>
            <a:ext cx="7132320" cy="274320"/>
          </a:xfrm>
          <a:prstGeom prst="rect">
            <a:avLst/>
          </a:prstGeom>
          <a:noFill/>
          <a:ln/>
        </p:spPr>
        <p:txBody>
          <a:bodyPr wrap="square" lIns="0" tIns="0" rIns="0" bIns="0" rtlCol="0" anchor="ctr"/>
          <a:lstStyle/>
          <a:p>
            <a:pPr marL="0" indent="0">
              <a:buNone/>
            </a:pPr>
            <a:r>
              <a:rPr lang="en-US" sz="1000" i="1" dirty="0">
                <a:solidFill>
                  <a:srgbClr val="7F8C8D"/>
                </a:solidFill>
                <a:latin typeface="Arial" pitchFamily="34" charset="0"/>
                <a:ea typeface="Arial" pitchFamily="34" charset="-122"/>
                <a:cs typeface="Arial" pitchFamily="34" charset="-120"/>
              </a:rPr>
              <a:t>Fastest-growing county in the MSA. All zones UNDERSERVED. The Woodlands alone is 22.2 mi from the nearest 5GG facility.</a:t>
            </a:r>
            <a:endParaRPr lang="en-US" sz="1000" dirty="0"/>
          </a:p>
        </p:txBody>
      </p:sp>
      <p:sp>
        <p:nvSpPr>
          <p:cNvPr id="9" name="Shape 7"/>
          <p:cNvSpPr/>
          <p:nvPr/>
        </p:nvSpPr>
        <p:spPr>
          <a:xfrm>
            <a:off x="731520" y="2651760"/>
            <a:ext cx="7680960" cy="1097280"/>
          </a:xfrm>
          <a:prstGeom prst="rect">
            <a:avLst/>
          </a:prstGeom>
          <a:solidFill>
            <a:srgbClr val="F0F4F8"/>
          </a:solidFill>
          <a:ln/>
        </p:spPr>
      </p:sp>
      <p:sp>
        <p:nvSpPr>
          <p:cNvPr id="10" name="Shape 8"/>
          <p:cNvSpPr/>
          <p:nvPr/>
        </p:nvSpPr>
        <p:spPr>
          <a:xfrm>
            <a:off x="731520" y="2651760"/>
            <a:ext cx="73152" cy="1097280"/>
          </a:xfrm>
          <a:prstGeom prst="rect">
            <a:avLst/>
          </a:prstGeom>
          <a:solidFill>
            <a:srgbClr val="E67E22"/>
          </a:solidFill>
          <a:ln/>
        </p:spPr>
      </p:sp>
      <p:sp>
        <p:nvSpPr>
          <p:cNvPr id="11" name="Text 9"/>
          <p:cNvSpPr/>
          <p:nvPr/>
        </p:nvSpPr>
        <p:spPr>
          <a:xfrm>
            <a:off x="1097280" y="2697480"/>
            <a:ext cx="4572000" cy="274320"/>
          </a:xfrm>
          <a:prstGeom prst="rect">
            <a:avLst/>
          </a:prstGeom>
          <a:noFill/>
          <a:ln/>
        </p:spPr>
        <p:txBody>
          <a:bodyPr wrap="square" lIns="0" tIns="0" rIns="0" bIns="0" rtlCol="0" anchor="ctr"/>
          <a:lstStyle/>
          <a:p>
            <a:pPr marL="0" indent="0">
              <a:buNone/>
            </a:pPr>
            <a:r>
              <a:rPr lang="en-US" sz="1300" b="1" dirty="0">
                <a:solidFill>
                  <a:srgbClr val="1B3A5C"/>
                </a:solidFill>
                <a:latin typeface="Arial" pitchFamily="34" charset="0"/>
                <a:ea typeface="Arial" pitchFamily="34" charset="-122"/>
                <a:cs typeface="Arial" pitchFamily="34" charset="-120"/>
              </a:rPr>
              <a:t>Harris County Suburban Ring (Katy / Humble / Cypress)</a:t>
            </a:r>
            <a:endParaRPr lang="en-US" sz="1300" dirty="0"/>
          </a:p>
        </p:txBody>
      </p:sp>
      <p:sp>
        <p:nvSpPr>
          <p:cNvPr id="12" name="Text 10"/>
          <p:cNvSpPr/>
          <p:nvPr/>
        </p:nvSpPr>
        <p:spPr>
          <a:xfrm>
            <a:off x="1097280" y="2971800"/>
            <a:ext cx="7132320" cy="274320"/>
          </a:xfrm>
          <a:prstGeom prst="rect">
            <a:avLst/>
          </a:prstGeom>
          <a:noFill/>
          <a:ln/>
        </p:spPr>
        <p:txBody>
          <a:bodyPr wrap="square" lIns="0" tIns="0" rIns="0" bIns="0" rtlCol="0" anchor="ctr"/>
          <a:lstStyle/>
          <a:p>
            <a:pPr marL="0" indent="0">
              <a:buNone/>
            </a:pPr>
            <a:r>
              <a:rPr lang="en-US" sz="1000" dirty="0">
                <a:solidFill>
                  <a:srgbClr val="555555"/>
                </a:solidFill>
                <a:latin typeface="Arial" pitchFamily="34" charset="0"/>
                <a:ea typeface="Arial" pitchFamily="34" charset="-122"/>
                <a:cs typeface="Arial" pitchFamily="34" charset="-120"/>
              </a:rPr>
              <a:t>Katy: 106 rest, 11.7 mi | Humble: 57 rest, 13.6 mi | Cypress: 13.9 mi | FOG tightened to 200 mg/L</a:t>
            </a:r>
            <a:endParaRPr lang="en-US" sz="1000" dirty="0"/>
          </a:p>
        </p:txBody>
      </p:sp>
      <p:sp>
        <p:nvSpPr>
          <p:cNvPr id="13" name="Text 11"/>
          <p:cNvSpPr/>
          <p:nvPr/>
        </p:nvSpPr>
        <p:spPr>
          <a:xfrm>
            <a:off x="1097280" y="3291840"/>
            <a:ext cx="7132320" cy="274320"/>
          </a:xfrm>
          <a:prstGeom prst="rect">
            <a:avLst/>
          </a:prstGeom>
          <a:noFill/>
          <a:ln/>
        </p:spPr>
        <p:txBody>
          <a:bodyPr wrap="square" lIns="0" tIns="0" rIns="0" bIns="0" rtlCol="0" anchor="ctr"/>
          <a:lstStyle/>
          <a:p>
            <a:pPr marL="0" indent="0">
              <a:buNone/>
            </a:pPr>
            <a:r>
              <a:rPr lang="en-US" sz="1000" i="1" dirty="0">
                <a:solidFill>
                  <a:srgbClr val="7F8C8D"/>
                </a:solidFill>
                <a:latin typeface="Arial" pitchFamily="34" charset="0"/>
                <a:ea typeface="Arial" pitchFamily="34" charset="-122"/>
                <a:cs typeface="Arial" pitchFamily="34" charset="-120"/>
              </a:rPr>
              <a:t>Southwaste dominates central Houston but suburban corridors are 10-20 mi from any facility. FOG limit change creates new demand.</a:t>
            </a:r>
            <a:endParaRPr lang="en-US" sz="1000" dirty="0"/>
          </a:p>
        </p:txBody>
      </p:sp>
      <p:sp>
        <p:nvSpPr>
          <p:cNvPr id="14" name="Shape 12"/>
          <p:cNvSpPr/>
          <p:nvPr/>
        </p:nvSpPr>
        <p:spPr>
          <a:xfrm>
            <a:off x="731520" y="3931920"/>
            <a:ext cx="7680960" cy="914400"/>
          </a:xfrm>
          <a:prstGeom prst="rect">
            <a:avLst/>
          </a:prstGeom>
          <a:solidFill>
            <a:srgbClr val="F0F4F8"/>
          </a:solidFill>
          <a:ln/>
        </p:spPr>
      </p:sp>
      <p:sp>
        <p:nvSpPr>
          <p:cNvPr id="15" name="Shape 13"/>
          <p:cNvSpPr/>
          <p:nvPr/>
        </p:nvSpPr>
        <p:spPr>
          <a:xfrm>
            <a:off x="731520" y="3931920"/>
            <a:ext cx="73152" cy="914400"/>
          </a:xfrm>
          <a:prstGeom prst="rect">
            <a:avLst/>
          </a:prstGeom>
          <a:solidFill>
            <a:srgbClr val="F1C40F"/>
          </a:solidFill>
          <a:ln/>
        </p:spPr>
      </p:sp>
      <p:sp>
        <p:nvSpPr>
          <p:cNvPr id="16" name="Text 14"/>
          <p:cNvSpPr/>
          <p:nvPr/>
        </p:nvSpPr>
        <p:spPr>
          <a:xfrm>
            <a:off x="1097280" y="3977640"/>
            <a:ext cx="4572000" cy="274320"/>
          </a:xfrm>
          <a:prstGeom prst="rect">
            <a:avLst/>
          </a:prstGeom>
          <a:noFill/>
          <a:ln/>
        </p:spPr>
        <p:txBody>
          <a:bodyPr wrap="square" lIns="0" tIns="0" rIns="0" bIns="0" rtlCol="0" anchor="ctr"/>
          <a:lstStyle/>
          <a:p>
            <a:pPr marL="0" indent="0">
              <a:buNone/>
            </a:pPr>
            <a:r>
              <a:rPr lang="en-US" sz="1300" b="1" dirty="0">
                <a:solidFill>
                  <a:srgbClr val="1B3A5C"/>
                </a:solidFill>
                <a:latin typeface="Arial" pitchFamily="34" charset="0"/>
                <a:ea typeface="Arial" pitchFamily="34" charset="-122"/>
                <a:cs typeface="Arial" pitchFamily="34" charset="-120"/>
              </a:rPr>
              <a:t>Emerging: Brazoria County (Pearland / Lake Jackson)</a:t>
            </a:r>
            <a:endParaRPr lang="en-US" sz="1300" dirty="0"/>
          </a:p>
        </p:txBody>
      </p:sp>
      <p:sp>
        <p:nvSpPr>
          <p:cNvPr id="17" name="Text 15"/>
          <p:cNvSpPr/>
          <p:nvPr/>
        </p:nvSpPr>
        <p:spPr>
          <a:xfrm>
            <a:off x="1097280" y="4251960"/>
            <a:ext cx="7132320" cy="274320"/>
          </a:xfrm>
          <a:prstGeom prst="rect">
            <a:avLst/>
          </a:prstGeom>
          <a:noFill/>
          <a:ln/>
        </p:spPr>
        <p:txBody>
          <a:bodyPr wrap="square" lIns="0" tIns="0" rIns="0" bIns="0" rtlCol="0" anchor="ctr"/>
          <a:lstStyle/>
          <a:p>
            <a:pPr marL="0" indent="0">
              <a:buNone/>
            </a:pPr>
            <a:r>
              <a:rPr lang="en-US" sz="1000" dirty="0">
                <a:solidFill>
                  <a:srgbClr val="555555"/>
                </a:solidFill>
                <a:latin typeface="Arial" pitchFamily="34" charset="0"/>
                <a:ea typeface="Arial" pitchFamily="34" charset="-122"/>
                <a:cs typeface="Arial" pitchFamily="34" charset="-120"/>
              </a:rPr>
              <a:t>689 establishments | 419K population (growing) | Zero 5GG | 5TL exists but no pretreatment | $1.50-$3.00/kgal</a:t>
            </a:r>
            <a:endParaRPr lang="en-US" sz="1000" dirty="0"/>
          </a:p>
        </p:txBody>
      </p:sp>
      <p:sp>
        <p:nvSpPr>
          <p:cNvPr id="18" name="Text 16"/>
          <p:cNvSpPr/>
          <p:nvPr/>
        </p:nvSpPr>
        <p:spPr>
          <a:xfrm>
            <a:off x="1097280" y="4526280"/>
            <a:ext cx="7132320" cy="182880"/>
          </a:xfrm>
          <a:prstGeom prst="rect">
            <a:avLst/>
          </a:prstGeom>
          <a:noFill/>
          <a:ln/>
        </p:spPr>
        <p:txBody>
          <a:bodyPr wrap="square" lIns="0" tIns="0" rIns="0" bIns="0" rtlCol="0" anchor="ctr"/>
          <a:lstStyle/>
          <a:p>
            <a:pPr marL="0" indent="0">
              <a:buNone/>
            </a:pPr>
            <a:r>
              <a:rPr lang="en-US" sz="1000" i="1" dirty="0">
                <a:solidFill>
                  <a:srgbClr val="7F8C8D"/>
                </a:solidFill>
                <a:latin typeface="Arial" pitchFamily="34" charset="0"/>
                <a:ea typeface="Arial" pitchFamily="34" charset="-122"/>
                <a:cs typeface="Arial" pitchFamily="34" charset="-120"/>
              </a:rPr>
              <a:t>Small but uncontested. Builds operational track record alongside larger market entries.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731520" y="365760"/>
            <a:ext cx="8229600" cy="365760"/>
          </a:xfrm>
          <a:prstGeom prst="rect">
            <a:avLst/>
          </a:prstGeom>
          <a:noFill/>
          <a:ln/>
        </p:spPr>
        <p:txBody>
          <a:bodyPr wrap="square" lIns="0" tIns="0" rIns="0" bIns="0" rtlCol="0" anchor="ctr"/>
          <a:lstStyle/>
          <a:p>
            <a:pPr marL="0" indent="0">
              <a:buNone/>
            </a:pPr>
            <a:r>
              <a:rPr lang="en-US" sz="1100" b="1" kern="0" spc="300" dirty="0">
                <a:solidFill>
                  <a:srgbClr val="4DA8DA"/>
                </a:solidFill>
                <a:latin typeface="Arial" pitchFamily="34" charset="0"/>
                <a:ea typeface="Arial" pitchFamily="34" charset="-122"/>
                <a:cs typeface="Arial" pitchFamily="34" charset="-120"/>
              </a:rPr>
              <a:t>RECOMMENDATION</a:t>
            </a:r>
            <a:endParaRPr lang="en-US" sz="1100" dirty="0"/>
          </a:p>
        </p:txBody>
      </p:sp>
      <p:sp>
        <p:nvSpPr>
          <p:cNvPr id="3" name="Text 1"/>
          <p:cNvSpPr/>
          <p:nvPr/>
        </p:nvSpPr>
        <p:spPr>
          <a:xfrm>
            <a:off x="731520" y="914400"/>
            <a:ext cx="7315200" cy="73152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Houston is ready for a new pretreatment platform.</a:t>
            </a:r>
            <a:endParaRPr lang="en-US" sz="3200" dirty="0"/>
          </a:p>
        </p:txBody>
      </p:sp>
      <p:sp>
        <p:nvSpPr>
          <p:cNvPr id="4" name="Text 2"/>
          <p:cNvSpPr/>
          <p:nvPr/>
        </p:nvSpPr>
        <p:spPr>
          <a:xfrm>
            <a:off x="731520" y="1828800"/>
            <a:ext cx="7680960" cy="914400"/>
          </a:xfrm>
          <a:prstGeom prst="rect">
            <a:avLst/>
          </a:prstGeom>
          <a:noFill/>
          <a:ln/>
        </p:spPr>
        <p:txBody>
          <a:bodyPr wrap="square" lIns="0" tIns="0" rIns="0" bIns="0" rtlCol="0" anchor="ctr"/>
          <a:lstStyle/>
          <a:p>
            <a:pPr marL="0" indent="0">
              <a:lnSpc>
                <a:spcPct val="140000"/>
              </a:lnSpc>
              <a:buNone/>
            </a:pPr>
            <a:r>
              <a:rPr lang="en-US" sz="1300" dirty="0">
                <a:solidFill>
                  <a:srgbClr val="7F8C8D"/>
                </a:solidFill>
                <a:latin typeface="Arial" pitchFamily="34" charset="0"/>
                <a:ea typeface="Arial" pitchFamily="34" charset="-122"/>
                <a:cs typeface="Arial" pitchFamily="34" charset="-120"/>
              </a:rPr>
              <a:t>The greater Houston MSA has 14,532 food service establishments generating grease trap waste across 9 counties, but only 10 processing facilities exist — all in one county. 8 counties with 4,494 establishments have zero disposal infrastructure. Haulers in these markets drive 15-47 miles for disposal.</a:t>
            </a:r>
            <a:endParaRPr lang="en-US" sz="1300" dirty="0"/>
          </a:p>
        </p:txBody>
      </p:sp>
      <p:sp>
        <p:nvSpPr>
          <p:cNvPr id="5" name="Shape 3"/>
          <p:cNvSpPr/>
          <p:nvPr/>
        </p:nvSpPr>
        <p:spPr>
          <a:xfrm>
            <a:off x="731520" y="2926080"/>
            <a:ext cx="2743200" cy="0"/>
          </a:xfrm>
          <a:prstGeom prst="line">
            <a:avLst/>
          </a:prstGeom>
          <a:noFill/>
          <a:ln w="19050">
            <a:solidFill>
              <a:srgbClr val="4DA8DA"/>
            </a:solidFill>
            <a:prstDash val="solid"/>
          </a:ln>
        </p:spPr>
      </p:sp>
      <p:sp>
        <p:nvSpPr>
          <p:cNvPr id="6" name="Text 4"/>
          <p:cNvSpPr/>
          <p:nvPr/>
        </p:nvSpPr>
        <p:spPr>
          <a:xfrm>
            <a:off x="731520" y="3200400"/>
            <a:ext cx="7315200" cy="457200"/>
          </a:xfrm>
          <a:prstGeom prst="rect">
            <a:avLst/>
          </a:prstGeom>
          <a:noFill/>
          <a:ln/>
        </p:spPr>
        <p:txBody>
          <a:bodyPr wrap="square" lIns="0" tIns="0" rIns="0" bIns="0" rtlCol="0" anchor="ctr"/>
          <a:lstStyle/>
          <a:p>
            <a:pPr marL="0" indent="0">
              <a:buNone/>
            </a:pPr>
            <a:r>
              <a:rPr lang="en-US" sz="2200" b="1" dirty="0">
                <a:solidFill>
                  <a:srgbClr val="4DA8DA"/>
                </a:solidFill>
                <a:latin typeface="Georgia" pitchFamily="34" charset="0"/>
                <a:ea typeface="Georgia" pitchFamily="34" charset="-122"/>
                <a:cs typeface="Georgia" pitchFamily="34" charset="-120"/>
              </a:rPr>
              <a:t>Enter Fort Bend County first.</a:t>
            </a:r>
            <a:endParaRPr lang="en-US" sz="2200" dirty="0"/>
          </a:p>
        </p:txBody>
      </p:sp>
      <p:sp>
        <p:nvSpPr>
          <p:cNvPr id="7" name="Text 5"/>
          <p:cNvSpPr/>
          <p:nvPr/>
        </p:nvSpPr>
        <p:spPr>
          <a:xfrm>
            <a:off x="731520" y="3657600"/>
            <a:ext cx="7680960" cy="731520"/>
          </a:xfrm>
          <a:prstGeom prst="rect">
            <a:avLst/>
          </a:prstGeom>
          <a:noFill/>
          <a:ln/>
        </p:spPr>
        <p:txBody>
          <a:bodyPr wrap="square" lIns="0" tIns="0" rIns="0" bIns="0" rtlCol="0" anchor="ctr"/>
          <a:lstStyle/>
          <a:p>
            <a:pPr marL="0" indent="0">
              <a:lnSpc>
                <a:spcPct val="140000"/>
              </a:lnSpc>
              <a:buNone/>
            </a:pPr>
            <a:r>
              <a:rPr lang="en-US" sz="1200" dirty="0">
                <a:solidFill>
                  <a:srgbClr val="F0F4F8"/>
                </a:solidFill>
                <a:latin typeface="Arial" pitchFamily="34" charset="0"/>
                <a:ea typeface="Arial" pitchFamily="34" charset="-122"/>
                <a:cs typeface="Arial" pitchFamily="34" charset="-120"/>
              </a:rPr>
              <a:t>1,522 establishments. Zero competitors. Growing population. Haulers already driving 10-17 miles into Harris County. A pretreatment facility near Sugar Land captures immediate demand from an entirely unserved market.</a:t>
            </a:r>
            <a:endParaRPr lang="en-US" sz="1200" dirty="0"/>
          </a:p>
        </p:txBody>
      </p:sp>
      <p:sp>
        <p:nvSpPr>
          <p:cNvPr id="8" name="Text 6"/>
          <p:cNvSpPr/>
          <p:nvPr/>
        </p:nvSpPr>
        <p:spPr>
          <a:xfrm>
            <a:off x="731520" y="4480560"/>
            <a:ext cx="7680960" cy="365760"/>
          </a:xfrm>
          <a:prstGeom prst="rect">
            <a:avLst/>
          </a:prstGeom>
          <a:noFill/>
          <a:ln/>
        </p:spPr>
        <p:txBody>
          <a:bodyPr wrap="square" lIns="0" tIns="0" rIns="0" bIns="0" rtlCol="0" anchor="ctr"/>
          <a:lstStyle/>
          <a:p>
            <a:pPr marL="0" indent="0">
              <a:buNone/>
            </a:pPr>
            <a:r>
              <a:rPr lang="en-US" sz="1200" i="1" dirty="0">
                <a:solidFill>
                  <a:srgbClr val="7F8C8D"/>
                </a:solidFill>
                <a:latin typeface="Arial" pitchFamily="34" charset="0"/>
                <a:ea typeface="Arial" pitchFamily="34" charset="-122"/>
                <a:cs typeface="Arial" pitchFamily="34" charset="-120"/>
              </a:rPr>
              <a:t>Expand to Montgomery County second — then the Harris suburban ring as FOG regulations tighten.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74320"/>
            <a:ext cx="8229600" cy="365760"/>
          </a:xfrm>
          <a:prstGeom prst="rect">
            <a:avLst/>
          </a:prstGeom>
          <a:noFill/>
          <a:ln/>
        </p:spPr>
        <p:txBody>
          <a:bodyPr wrap="square" lIns="0" tIns="0" rIns="0" bIns="0" rtlCol="0" anchor="ctr"/>
          <a:lstStyle/>
          <a:p>
            <a:pPr marL="0" indent="0">
              <a:buNone/>
            </a:pPr>
            <a:r>
              <a:rPr lang="en-US" sz="1100" b="1" kern="0" spc="300" dirty="0">
                <a:solidFill>
                  <a:srgbClr val="4DA8DA"/>
                </a:solidFill>
                <a:latin typeface="Arial" pitchFamily="34" charset="0"/>
                <a:ea typeface="Arial" pitchFamily="34" charset="-122"/>
                <a:cs typeface="Arial" pitchFamily="34" charset="-120"/>
              </a:rPr>
              <a:t>DATA SOURCES &amp; METHODOLOGY</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31520" y="914400"/>
          <a:ext cx="7680960" cy="2148840"/>
        </p:xfrm>
        <a:graphic>
          <a:graphicData uri="http://schemas.openxmlformats.org/drawingml/2006/table">
            <a:tbl>
              <a:tblPr/>
              <a:tblGrid>
                <a:gridCol w="18288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320040">
                <a:tc>
                  <a:txBody>
                    <a:bodyPr/>
                    <a:lstStyle/>
                    <a:p>
                      <a:pPr marL="0" indent="0">
                        <a:buNone/>
                      </a:pPr>
                      <a:r>
                        <a:rPr lang="en-US" sz="1000" b="1" dirty="0">
                          <a:solidFill>
                            <a:srgbClr val="FFFFFF"/>
                          </a:solidFill>
                          <a:latin typeface="Arial" pitchFamily="34" charset="0"/>
                          <a:ea typeface="Arial" pitchFamily="34" charset="-122"/>
                          <a:cs typeface="Arial" pitchFamily="34" charset="-120"/>
                        </a:rPr>
                        <a:t>Source</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B3A5C"/>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Dataset</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B3A5C"/>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Application</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365760">
                <a:tc>
                  <a:txBody>
                    <a:bodyPr/>
                    <a:lstStyle/>
                    <a:p>
                      <a:pPr marL="0" indent="0">
                        <a:buNone/>
                      </a:pPr>
                      <a:r>
                        <a:rPr lang="en-US" sz="1000" b="1" dirty="0">
                          <a:solidFill>
                            <a:srgbClr val="000000"/>
                          </a:solidFill>
                          <a:latin typeface="Arial" pitchFamily="34" charset="0"/>
                          <a:ea typeface="Arial" pitchFamily="34" charset="-122"/>
                          <a:cs typeface="Arial" pitchFamily="34" charset="-120"/>
                        </a:rPr>
                        <a:t>U.S. Census Bureau</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County Business Patterns 2023</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buNone/>
                      </a:pPr>
                      <a:r>
                        <a:rPr lang="en-US" sz="1000" dirty="0">
                          <a:solidFill>
                            <a:srgbClr val="555555"/>
                          </a:solidFill>
                          <a:latin typeface="Arial" pitchFamily="34" charset="0"/>
                          <a:ea typeface="Arial" pitchFamily="34" charset="-122"/>
                          <a:cs typeface="Arial" pitchFamily="34" charset="-120"/>
                        </a:rPr>
                        <a:t>14,532 food establishments (NAICS 722) — demand baseline</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000" b="1" dirty="0">
                          <a:solidFill>
                            <a:srgbClr val="000000"/>
                          </a:solidFill>
                          <a:latin typeface="Arial" pitchFamily="34" charset="0"/>
                          <a:ea typeface="Arial" pitchFamily="34" charset="-122"/>
                          <a:cs typeface="Arial" pitchFamily="34" charset="-120"/>
                        </a:rPr>
                        <a:t>OpenStreetMap</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Overpass Turbo API</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buNone/>
                      </a:pPr>
                      <a:r>
                        <a:rPr lang="en-US" sz="1000" dirty="0">
                          <a:solidFill>
                            <a:srgbClr val="555555"/>
                          </a:solidFill>
                          <a:latin typeface="Arial" pitchFamily="34" charset="0"/>
                          <a:ea typeface="Arial" pitchFamily="34" charset="-122"/>
                          <a:cs typeface="Arial" pitchFamily="34" charset="-120"/>
                        </a:rPr>
                        <a:t>4,502 geocoded restaurant locations — spatial density mapping</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000" b="1" dirty="0">
                          <a:solidFill>
                            <a:srgbClr val="000000"/>
                          </a:solidFill>
                          <a:latin typeface="Arial" pitchFamily="34" charset="0"/>
                          <a:ea typeface="Arial" pitchFamily="34" charset="-122"/>
                          <a:cs typeface="Arial" pitchFamily="34" charset="-120"/>
                        </a:rPr>
                        <a:t>TCEQ Registry</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MSW Facility Database</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buNone/>
                      </a:pPr>
                      <a:r>
                        <a:rPr lang="en-US" sz="1000" dirty="0">
                          <a:solidFill>
                            <a:srgbClr val="555555"/>
                          </a:solidFill>
                          <a:latin typeface="Arial" pitchFamily="34" charset="0"/>
                          <a:ea typeface="Arial" pitchFamily="34" charset="-122"/>
                          <a:cs typeface="Arial" pitchFamily="34" charset="-120"/>
                        </a:rPr>
                        <a:t>22 liquid waste facilities (10 x 5GG) — competitive landscape</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000" b="1" dirty="0">
                          <a:solidFill>
                            <a:srgbClr val="000000"/>
                          </a:solidFill>
                          <a:latin typeface="Arial" pitchFamily="34" charset="0"/>
                          <a:ea typeface="Arial" pitchFamily="34" charset="-122"/>
                          <a:cs typeface="Arial" pitchFamily="34" charset="-120"/>
                        </a:rPr>
                        <a:t>EPA ECHO</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NPDES Permit Database</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buNone/>
                      </a:pPr>
                      <a:r>
                        <a:rPr lang="en-US" sz="1000" dirty="0">
                          <a:solidFill>
                            <a:srgbClr val="555555"/>
                          </a:solidFill>
                          <a:latin typeface="Arial" pitchFamily="34" charset="0"/>
                          <a:ea typeface="Arial" pitchFamily="34" charset="-122"/>
                          <a:cs typeface="Arial" pitchFamily="34" charset="-120"/>
                        </a:rPr>
                        <a:t>WWTP capacity and compliance data</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1000" b="1" dirty="0">
                          <a:solidFill>
                            <a:srgbClr val="000000"/>
                          </a:solidFill>
                          <a:latin typeface="Arial" pitchFamily="34" charset="0"/>
                          <a:ea typeface="Arial" pitchFamily="34" charset="-122"/>
                          <a:cs typeface="Arial" pitchFamily="34" charset="-120"/>
                        </a:rPr>
                        <a:t>Southwaste.com</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Public volume reporting</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buNone/>
                      </a:pPr>
                      <a:r>
                        <a:rPr lang="en-US" sz="1000" dirty="0">
                          <a:solidFill>
                            <a:srgbClr val="555555"/>
                          </a:solidFill>
                          <a:latin typeface="Arial" pitchFamily="34" charset="0"/>
                          <a:ea typeface="Arial" pitchFamily="34" charset="-122"/>
                          <a:cs typeface="Arial" pitchFamily="34" charset="-120"/>
                        </a:rPr>
                        <a:t>275M+ gallon throughput — market sizing benchmark</a:t>
                      </a:r>
                      <a:endParaRPr lang="en-US" sz="1000" dirty="0">
                        <a:latin typeface="Arial" charset="0"/>
                        <a:ea typeface="Arial" charset="0"/>
                        <a:cs typeface="Arial" charset="0"/>
                      </a:endParaRPr>
                    </a:p>
                  </a:txBody>
                  <a:tcP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1"/>
          <p:cNvSpPr/>
          <p:nvPr/>
        </p:nvSpPr>
        <p:spPr>
          <a:xfrm>
            <a:off x="731520" y="3474720"/>
            <a:ext cx="7315200" cy="274320"/>
          </a:xfrm>
          <a:prstGeom prst="rect">
            <a:avLst/>
          </a:prstGeom>
          <a:noFill/>
          <a:ln/>
        </p:spPr>
        <p:txBody>
          <a:bodyPr wrap="square" lIns="0" tIns="0" rIns="0" bIns="0" rtlCol="0" anchor="ctr"/>
          <a:lstStyle/>
          <a:p>
            <a:pPr marL="0" indent="0">
              <a:buNone/>
            </a:pPr>
            <a:r>
              <a:rPr lang="en-US" sz="1000" b="1" dirty="0">
                <a:solidFill>
                  <a:srgbClr val="2C5F8A"/>
                </a:solidFill>
                <a:latin typeface="Arial" pitchFamily="34" charset="0"/>
                <a:ea typeface="Arial" pitchFamily="34" charset="-122"/>
                <a:cs typeface="Arial" pitchFamily="34" charset="-120"/>
              </a:rPr>
              <a:t>Tools: Python (pandas, folium, matplotlib) | Power BI | OpenStreetMap Overpass Turbo</a:t>
            </a:r>
            <a:endParaRPr lang="en-US" sz="1000" dirty="0"/>
          </a:p>
        </p:txBody>
      </p:sp>
      <p:sp>
        <p:nvSpPr>
          <p:cNvPr id="5" name="Text 2"/>
          <p:cNvSpPr/>
          <p:nvPr/>
        </p:nvSpPr>
        <p:spPr>
          <a:xfrm>
            <a:off x="731520" y="3840480"/>
            <a:ext cx="7680960" cy="457200"/>
          </a:xfrm>
          <a:prstGeom prst="rect">
            <a:avLst/>
          </a:prstGeom>
          <a:noFill/>
          <a:ln/>
        </p:spPr>
        <p:txBody>
          <a:bodyPr wrap="square" lIns="0" tIns="0" rIns="0" bIns="0" rtlCol="0" anchor="ctr"/>
          <a:lstStyle/>
          <a:p>
            <a:pPr marL="0" indent="0">
              <a:buNone/>
            </a:pPr>
            <a:r>
              <a:rPr lang="en-US" sz="1000" dirty="0">
                <a:solidFill>
                  <a:srgbClr val="7F8C8D"/>
                </a:solidFill>
                <a:latin typeface="Arial" pitchFamily="34" charset="0"/>
                <a:ea typeface="Arial" pitchFamily="34" charset="-122"/>
                <a:cs typeface="Arial" pitchFamily="34" charset="-120"/>
              </a:rPr>
              <a:t>Methodology: Automated spatial gap analysis — 2km grid, top 15% density threshold, haversine distance calculation, 4-tier classification (Underserved/Moderate Gap/Slight Gap/Served)</a:t>
            </a:r>
            <a:endParaRPr lang="en-US" sz="1000" dirty="0"/>
          </a:p>
        </p:txBody>
      </p:sp>
      <p:sp>
        <p:nvSpPr>
          <p:cNvPr id="6" name="Text 3"/>
          <p:cNvSpPr/>
          <p:nvPr/>
        </p:nvSpPr>
        <p:spPr>
          <a:xfrm>
            <a:off x="731520" y="4297680"/>
            <a:ext cx="7680960" cy="457200"/>
          </a:xfrm>
          <a:prstGeom prst="rect">
            <a:avLst/>
          </a:prstGeom>
          <a:noFill/>
          <a:ln/>
        </p:spPr>
        <p:txBody>
          <a:bodyPr wrap="square" lIns="0" tIns="0" rIns="0" bIns="0" rtlCol="0" anchor="ctr"/>
          <a:lstStyle/>
          <a:p>
            <a:pPr marL="0" indent="0">
              <a:buNone/>
            </a:pPr>
            <a:r>
              <a:rPr lang="en-US" sz="900" i="1" dirty="0">
                <a:solidFill>
                  <a:srgbClr val="7F8C8D"/>
                </a:solidFill>
                <a:latin typeface="Arial" pitchFamily="34" charset="0"/>
                <a:ea typeface="Arial" pitchFamily="34" charset="-122"/>
                <a:cs typeface="Arial" pitchFamily="34" charset="-120"/>
              </a:rPr>
              <a:t>Limitations: OSM captures ~31% of Census total. Surcharge rates approximate. Tip fee data requires primary research. Production analysis would supplement with official county health dept licensing data.</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2A61AE-B326-8643-C307-19B098BAFEFD}"/>
              </a:ext>
            </a:extLst>
          </p:cNvPr>
          <p:cNvSpPr txBox="1"/>
          <p:nvPr/>
        </p:nvSpPr>
        <p:spPr>
          <a:xfrm>
            <a:off x="3070514" y="2085109"/>
            <a:ext cx="3002972" cy="738664"/>
          </a:xfrm>
          <a:prstGeom prst="rect">
            <a:avLst/>
          </a:prstGeom>
          <a:noFill/>
          <a:ln>
            <a:noFill/>
          </a:ln>
        </p:spPr>
        <p:txBody>
          <a:bodyPr wrap="square" rtlCol="0">
            <a:spAutoFit/>
          </a:bodyPr>
          <a:lstStyle/>
          <a:p>
            <a:pPr algn="ctr"/>
            <a:r>
              <a:rPr lang="en-US" sz="4200" dirty="0">
                <a:solidFill>
                  <a:schemeClr val="tx2">
                    <a:lumMod val="75000"/>
                  </a:schemeClr>
                </a:solidFill>
                <a:latin typeface="Script MT Bold" panose="03040602040607080904" pitchFamily="66" charset="0"/>
              </a:rPr>
              <a:t>Thank you!</a:t>
            </a:r>
            <a:endParaRPr lang="en-IN" sz="4200" dirty="0">
              <a:solidFill>
                <a:schemeClr val="tx2">
                  <a:lumMod val="75000"/>
                </a:schemeClr>
              </a:solidFill>
              <a:latin typeface="Script MT Bold" panose="03040602040607080904" pitchFamily="66" charset="0"/>
            </a:endParaRPr>
          </a:p>
        </p:txBody>
      </p:sp>
    </p:spTree>
    <p:extLst>
      <p:ext uri="{BB962C8B-B14F-4D97-AF65-F5344CB8AC3E}">
        <p14:creationId xmlns:p14="http://schemas.microsoft.com/office/powerpoint/2010/main" val="34898292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4667</TotalTime>
  <Words>3112</Words>
  <Application>Microsoft Office PowerPoint</Application>
  <PresentationFormat>On-screen Show (16:9)</PresentationFormat>
  <Paragraphs>284</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Georgia</vt:lpstr>
      <vt:lpstr>Script MT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Greater Houston Market Evaluation</dc:title>
  <dc:subject>PptxGenJS Presentation</dc:subject>
  <dc:creator>Saloni Subhash Shahi</dc:creator>
  <cp:lastModifiedBy>Saloni Shahi</cp:lastModifiedBy>
  <cp:revision>9</cp:revision>
  <dcterms:created xsi:type="dcterms:W3CDTF">2026-05-21T17:27:07Z</dcterms:created>
  <dcterms:modified xsi:type="dcterms:W3CDTF">2026-05-26T16:45:26Z</dcterms:modified>
</cp:coreProperties>
</file>